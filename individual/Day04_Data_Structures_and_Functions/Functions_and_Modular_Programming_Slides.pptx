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builds on Data Structures. We now package our code into reusable, well-organised blocks, the way a unit works through SOPs and sub-units.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prior Python knowledge is assumed. The next slide covers the minimum Python needed to follow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this in the Python shell (IDLE) live. Stress that indentation is part of Python grammar, not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Ration calculation: men x days x meals per day. Show how the function removes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every part of the function. Parameters are the names in the definition; arguments are the actual values passed in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numbers 1 to 5 with a pointer. Beginners often think the body runs when def is read; show that "Start" prints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definition, three calls. The function body is written once and used three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"=" * 28 repeats the character 28 times. Ask students to change the banner text and call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happens if we pass positional arguments in the wrong order? The vehicle moves to "0600" at "Post Alpha" hrs.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*args arrives inside the function as a tuple, linking back to the Data Structures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260 km at 4 kmpl = 65 L, plus 10% reserve = 71.5 L. 260 km at 40 km/h = 6 h 30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is None because add_print has no return. Rule of thumb: if the answer is needed later, return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"start empty, loop, append, return" pattern will be used again and again in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180 km at 4 kmpl = 45 L plus 10% reserve = 49.5 L; 180 km at 40 km/h = 4.5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need-to-know principle applied to code. Local data stays inside the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writing a function, check whether Python already has one. Then write your own for unit-specific rules like the pass cut-off.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rules come from PEP 8, the official Python style guide (see references).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make two of these errors live and let students read the traceback.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minutes. Students write answers before seeing the next slide. Q4 tests understanding of local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Q4 carefully: assignment inside a function creates a local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the program structure onto a familiar organisation: HQ coordinates, branches do specialised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files must be in the same folder. The module name is the file name without 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main.py does "import logistics", the test line is skipped. Show both cases live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"import" works the same for built-in modules as for our own logistics.py.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3 turns it into an interactive menu-driven app; task 4 practises modular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the version in the previous session: same logic, but now it can be called for any course with a single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one topic per group during the lab. Each project must use at least two data structures, five functions and one separate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4B5D34">
              <a:alpha val="45000"/>
            </a:srgbClr>
          </a:solidFill>
          <a:ln w="12700">
            <a:solidFill>
              <a:srgbClr val="4B5D3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3291840" cy="3291840"/>
          </a:xfrm>
          <a:prstGeom prst="ellipse">
            <a:avLst/>
          </a:prstGeom>
          <a:solidFill>
            <a:srgbClr val="C8B88A">
              <a:alpha val="20000"/>
            </a:srgbClr>
          </a:solidFill>
          <a:ln w="12700">
            <a:solidFill>
              <a:srgbClr val="C8B88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0" y="1188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8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THEORY SESSION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Programming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·  Arguments  ·  Return Values  ·  Reusable Code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Lt. Col. Neeraj Sharma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Session  ·  Thursday, 01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Plan &amp; Learning Outcomes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75104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 </a:t>
            </a:r>
            <a:pPr indent="0" marL="0">
              <a:buNone/>
            </a:pP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function is and why we use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633472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</a:t>
            </a:r>
            <a:pPr indent="0" marL="0">
              <a:buNone/>
            </a:pP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functions using def.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91840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</a:t>
            </a:r>
            <a:pPr indent="0" marL="0">
              <a:buNone/>
            </a:pP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using parameters and arguments.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867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50208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pPr indent="0" marL="0">
              <a:buNone/>
            </a:pP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use them later in the program.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45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608576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 </a:t>
            </a:r>
            <a:pPr indent="0" marL="0">
              <a:buNone/>
            </a:pP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into modules and import them.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303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266944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</a:t>
            </a:r>
            <a:pPr indent="0" marL="0">
              <a:buNone/>
            </a:pPr>
            <a:r>
              <a:rPr lang="en-US" sz="16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programs from reusable functions.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0" y="1463040"/>
            <a:ext cx="4510735" cy="4663440"/>
          </a:xfrm>
          <a:prstGeom prst="roundRect">
            <a:avLst>
              <a:gd name="adj" fmla="val 2433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1737360"/>
            <a:ext cx="2459736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1737360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50 MINUTES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00-10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28600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basics, why &amp; what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017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10-25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301752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arguments, return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25-35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374904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built-ins, good habits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480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35-43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448056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and import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5212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43-50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503920" y="521208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&amp; recap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Basics You Need First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those new to Python: these five ideas are enough to start writing functions.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675120" cy="3547872"/>
          </a:xfrm>
          <a:prstGeom prst="roundRect">
            <a:avLst>
              <a:gd name="adj" fmla="val 2577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30936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variable stores a value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"Rao" 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text (string)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29     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whole number (int)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 = 1.74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decimal number (float)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on_duty = True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True / False (bool)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print() shows output on the screen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print("Name:", name)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f-string: put variables inside text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print(f"{name} is {age} years old")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colon + 4-space indent makes a block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on_duty: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"is on duty")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43800" y="1874520"/>
            <a:ext cx="409925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203704"/>
            <a:ext cx="373349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Rao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Rao is 29 years 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Rao is on duty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3215030"/>
            <a:ext cx="4099255" cy="233172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3397910"/>
            <a:ext cx="1271016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339791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781958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store a value in a variable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111142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comment: ignored by Python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440326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display 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769510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f"..{x}.."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a value into text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098694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+ indent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 a block of code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Functions? Think of an SOP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9344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many times  </a:t>
            </a:r>
            <a:pPr indent="0" marL="0">
              <a:buNone/>
            </a:pPr>
            <a:r>
              <a:rPr lang="en-US" sz="15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 SOP followed by every sub-unit.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432304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big task into drills  </a:t>
            </a:r>
            <a:pPr indent="0" marL="0">
              <a:buNone/>
            </a:pPr>
            <a:r>
              <a:rPr lang="en-US" sz="15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does one clear job.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255264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test &amp; fix  </a:t>
            </a:r>
            <a:pPr indent="0" marL="0">
              <a:buNone/>
            </a:pPr>
            <a:r>
              <a:rPr lang="en-US" sz="15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fault in one place only.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078224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  </a:t>
            </a:r>
            <a:pPr indent="0" marL="0">
              <a:buNone/>
            </a:pPr>
            <a:r>
              <a:rPr lang="en-US" sz="15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members write different functions.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937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901184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 </a:t>
            </a:r>
            <a:pPr indent="0" marL="0">
              <a:buNone/>
            </a:pPr>
            <a:r>
              <a:rPr lang="en-US" sz="15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calculate_fuel() explains itself.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1645920"/>
            <a:ext cx="1865376" cy="274320"/>
          </a:xfrm>
          <a:prstGeom prst="roundRect">
            <a:avLst>
              <a:gd name="adj" fmla="val 26667"/>
            </a:avLst>
          </a:prstGeom>
          <a:solidFill>
            <a:srgbClr val="B5553C"/>
          </a:solidFill>
          <a:ln w="12700">
            <a:solidFill>
              <a:srgbClr val="B555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164592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057400"/>
            <a:ext cx="2621128" cy="1805483"/>
          </a:xfrm>
          <a:prstGeom prst="roundRect">
            <a:avLst>
              <a:gd name="adj" fmla="val 5065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386584"/>
            <a:ext cx="2255368" cy="1394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Without a function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men, days = 10, 7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print(men * days * 3)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men, days = 25, 5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print(men * days * 3)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men, days = 40, 10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print(men * days *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1928" y="1645920"/>
            <a:ext cx="1865376" cy="274320"/>
          </a:xfrm>
          <a:prstGeom prst="roundRect">
            <a:avLst>
              <a:gd name="adj" fmla="val 26667"/>
            </a:avLst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21928" y="164592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21928" y="2057400"/>
            <a:ext cx="2621128" cy="1805483"/>
          </a:xfrm>
          <a:prstGeom prst="roundRect">
            <a:avLst>
              <a:gd name="adj" fmla="val 5065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50528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250528" y="2386584"/>
            <a:ext cx="2255368" cy="1394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a function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ration(men, days):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men * days * 3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print(ration(10, 7))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print(ration(25, 5))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print(ration(40, 10))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343400"/>
            <a:ext cx="5516575" cy="705917"/>
          </a:xfrm>
          <a:prstGeom prst="roundRect">
            <a:avLst>
              <a:gd name="adj" fmla="val 12953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672584"/>
            <a:ext cx="5150815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   |   375   |   1200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5349240"/>
            <a:ext cx="5516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result. The formula is written once: change "3 meals" to "4 meals" in one place and every call is updated.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Function?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named, reusable block of code that performs a specific task. It runs only when it is called, can take inputs (parameters) and can send back a result (return value).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852160" cy="1923898"/>
          </a:xfrm>
          <a:prstGeom prst="roundRect">
            <a:avLst>
              <a:gd name="adj" fmla="val 4753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38144"/>
            <a:ext cx="5486400" cy="151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fuel_needed(distance, mileage):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"""Litres required for a move."""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litres = distance / mileage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litres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print(fuel_needed(200, 5))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3172968"/>
            <a:ext cx="237744" cy="23774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310896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keyword that starts a function definition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3648456"/>
            <a:ext cx="237744" cy="23774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3584448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fuel_needed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function name (lowercase)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4123944"/>
            <a:ext cx="237744" cy="23774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4059936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(distance, mileage)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parameters (inputs)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4599432"/>
            <a:ext cx="237744" cy="23774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4535424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 ... """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docstring: what the function does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5074920"/>
            <a:ext cx="237744" cy="23774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5010912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indented body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steps (4 spaces indent)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5550408"/>
            <a:ext cx="237744" cy="23774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548640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sends the result back to the caller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6025896"/>
            <a:ext cx="237744" cy="23774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0" y="5961888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fuel_needed(200, 5)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call. Output: 40.0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Function is Called?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00800" cy="2262226"/>
          </a:xfrm>
          <a:prstGeom prst="roundRect">
            <a:avLst>
              <a:gd name="adj" fmla="val 4042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83664"/>
            <a:ext cx="6035040" cy="185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double_shift(hours):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1. defined, not run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hours * 2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3. body runs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     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4. value goes back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print("Start")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double_shift(6)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2. call jumps in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print("Hours:", result)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5. continues here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print("End")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45306"/>
            <a:ext cx="6400800" cy="1162660"/>
          </a:xfrm>
          <a:prstGeom prst="roundRect">
            <a:avLst>
              <a:gd name="adj" fmla="val 7865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3674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74490"/>
            <a:ext cx="6035040" cy="75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Hours: 12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1554480"/>
            <a:ext cx="4327855" cy="777240"/>
          </a:xfrm>
          <a:prstGeom prst="roundRect">
            <a:avLst>
              <a:gd name="adj" fmla="val 9412"/>
            </a:avLst>
          </a:prstGeom>
          <a:solidFill>
            <a:srgbClr val="F7F8F4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755648"/>
            <a:ext cx="384048" cy="38404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1600200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def and remembers the function. Nothing inside runs yet.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2468880"/>
            <a:ext cx="4327855" cy="777240"/>
          </a:xfrm>
          <a:prstGeom prst="roundRect">
            <a:avLst>
              <a:gd name="adj" fmla="val 9412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2670048"/>
            <a:ext cx="384048" cy="38404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514600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 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double_shift(6) jumps into the function; hours becomes 6.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3383280"/>
            <a:ext cx="4327855" cy="777240"/>
          </a:xfrm>
          <a:prstGeom prst="roundRect">
            <a:avLst>
              <a:gd name="adj" fmla="val 9412"/>
            </a:avLst>
          </a:prstGeom>
          <a:solidFill>
            <a:srgbClr val="F7F8F4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3584448"/>
            <a:ext cx="384048" cy="38404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429000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 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runs line by line: total = 12.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4297680"/>
            <a:ext cx="4327855" cy="777240"/>
          </a:xfrm>
          <a:prstGeom prst="roundRect">
            <a:avLst>
              <a:gd name="adj" fmla="val 9412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4498848"/>
            <a:ext cx="384048" cy="38404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343400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12 back to where it was called.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0" y="5212080"/>
            <a:ext cx="4327855" cy="777240"/>
          </a:xfrm>
          <a:prstGeom prst="roundRect">
            <a:avLst>
              <a:gd name="adj" fmla="val 9412"/>
            </a:avLst>
          </a:prstGeom>
          <a:solidFill>
            <a:srgbClr val="F7F8F4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5413248"/>
            <a:ext cx="384048" cy="38404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5257800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 </a:t>
            </a:r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12 and the program carries 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and Calling a Function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function (def) only creates it. Calling the function by its name with brackets, e.g. report_in(...), actually runs the code.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8039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 the definition (name, rank).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342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value passed ("Rao", "Nk").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01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646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body of the function.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315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3949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note on the purpose.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1923898"/>
          </a:xfrm>
          <a:prstGeom prst="roundRect">
            <a:avLst>
              <a:gd name="adj" fmla="val 4753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151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report_in(name, rank):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"""Prints a standard reporting message."""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print(f"{rank} {name} reporting for duty, Sir!")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report_in("Rao", "Nk")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report_in("Das", "Sep")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report_in("Khan", "Hav")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661258"/>
            <a:ext cx="551657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375269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990442"/>
            <a:ext cx="515081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Nk Rao reporting for duty, Sir!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Das reporting for duty, Sir!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 Khan reporting for duty, Sir!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08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With and Without Parameters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functions need no input and do the same job every time. Others take parameters, so the same function can work with different values each time it is called.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325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( )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takes no input.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9943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99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628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variable inside the function.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932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as many times as needed.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6601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66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6235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( )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are needed to call it.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3031922"/>
          </a:xfrm>
          <a:prstGeom prst="roundRect">
            <a:avLst>
              <a:gd name="adj" fmla="val 3016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262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parameter: same job every time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print_banner():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print("=" * 28)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  DAILY ORDERS - PART I")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print("=" * 28)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parameter: works for any soldier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salute(name):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print(f"Jai Hind, {name}!")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print_banner()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salute("Rao")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salute("Das")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769282"/>
            <a:ext cx="5516575" cy="1475613"/>
          </a:xfrm>
          <a:prstGeom prst="roundRect">
            <a:avLst>
              <a:gd name="adj" fmla="val 6197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86072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098466"/>
            <a:ext cx="5150815" cy="106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DAILY ORDERS - PART 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 Hind, Rao!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 Hind, Das!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Arguments: Positional and Keyword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arguments are matched to parameters by their order. Keyword arguments are matched by name (param=value), so their order does not matter.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8039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must match the definition.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342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clearer, order-free: time="1400".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01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646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first, then keyword.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315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3949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keywords when many inputs.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2253767"/>
          </a:xfrm>
          <a:prstGeom prst="roundRect">
            <a:avLst>
              <a:gd name="adj" fmla="val 4057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1842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movement_order(vehicle, dest, time):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print(f"{vehicle} to move to {dest} at {time} hrs")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Positional - order matters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movement_order("ALS-07", "Post Alpha", "0600")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Keyword - order does not matter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movement_order(time="1400", vehicle="Gypsy-02",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dest="Bde HQ")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3991127"/>
            <a:ext cx="5516575" cy="891997"/>
          </a:xfrm>
          <a:prstGeom prst="roundRect">
            <a:avLst>
              <a:gd name="adj" fmla="val 10251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082567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320311"/>
            <a:ext cx="5150815" cy="480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ALS-07 to move to Post Alpha at 0600 hrs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Gypsy-02 to move to Bde HQ at 1400 hrs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and Variable-Length Arguments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give a parameter a standard value; *args accepts any number of values.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675120" cy="3141878"/>
          </a:xfrm>
          <a:prstGeom prst="roundRect">
            <a:avLst>
              <a:gd name="adj" fmla="val 2910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309360" cy="2730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issue_ration(men, days=7):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"""Meals required; 3 meals per man per day."""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men * days * 3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print(issue_ration(10)) 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uses default 7 days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print(issue_ration(10, days=15))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overrides default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total_ammo(*magazines):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"""Adds rounds in any number of magazines."""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sum(magazines)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print(total_ammo(30, 30, 28))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print(total_ammo(30, 30, 30, 30, 25))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43800" y="1874520"/>
            <a:ext cx="4099255" cy="1314907"/>
          </a:xfrm>
          <a:prstGeom prst="roundRect">
            <a:avLst>
              <a:gd name="adj" fmla="val 695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203704"/>
            <a:ext cx="3733495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3418027"/>
            <a:ext cx="4099255" cy="233172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3600907"/>
            <a:ext cx="3054096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3600907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OF ARGUMENTS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984955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f(a, b)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positional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314139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f(b=2, a=1)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keyword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643323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f(a, b=7)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default value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972507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f(*args)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 number (tuple)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301691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f(**kw)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 keyword args (dict)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Values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statement ends the function and sends a value back to the caller, where it can be stored or used. A function without return gives back None.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8039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vs return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shows; return hands back.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342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values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together as a tuple.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01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646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h, m = move_time(260)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315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3949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return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after it does not run.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3031922"/>
          </a:xfrm>
          <a:prstGeom prst="roundRect">
            <a:avLst>
              <a:gd name="adj" fmla="val 3016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262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fuel_needed(distance_km, kmpl):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"""Fuel for a move, with 10% reserve."""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litres = distance_km / kmpl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round(litres * 1.1, 1)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move_time(distance_km, speed=40):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hours = distance_km // speed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mins = round(distance_km % speed / speed * 60)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hours, mins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 tuple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print("Fuel:", fuel_needed(260, 4), "L")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h, m = move_time(260)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print(f"Move time: {h} h {m} min")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769282"/>
            <a:ext cx="5516575" cy="891997"/>
          </a:xfrm>
          <a:prstGeom prst="roundRect">
            <a:avLst>
              <a:gd name="adj" fmla="val 10251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86072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098466"/>
            <a:ext cx="5150815" cy="480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Fuel: 71.5 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time: 6 h 30 min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vs return: The Most Common Confusion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27632" cy="274320"/>
          </a:xfrm>
          <a:prstGeom prst="roundRect">
            <a:avLst>
              <a:gd name="adj" fmla="val 26667"/>
            </a:avLst>
          </a:prstGeom>
          <a:solidFill>
            <a:srgbClr val="B5553C"/>
          </a:solidFill>
          <a:ln w="12700">
            <a:solidFill>
              <a:srgbClr val="B555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64328" cy="1687068"/>
          </a:xfrm>
          <a:prstGeom prst="roundRect">
            <a:avLst>
              <a:gd name="adj" fmla="val 5420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03704"/>
            <a:ext cx="4998568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add_print(a, b):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 + b)     </a:t>
            </a:r>
            <a:pPr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only shows it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add_print(20, 30)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print("x is", x)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44468"/>
            <a:ext cx="5364328" cy="976579"/>
          </a:xfrm>
          <a:prstGeom prst="roundRect">
            <a:avLst>
              <a:gd name="adj" fmla="val 9363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359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73652"/>
            <a:ext cx="4998568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is None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8728" y="1463040"/>
            <a:ext cx="1746504" cy="274320"/>
          </a:xfrm>
          <a:prstGeom prst="roundRect">
            <a:avLst>
              <a:gd name="adj" fmla="val 26667"/>
            </a:avLst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78728" y="14630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RETURN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78728" y="1874520"/>
            <a:ext cx="5364328" cy="1923898"/>
          </a:xfrm>
          <a:prstGeom prst="roundRect">
            <a:avLst>
              <a:gd name="adj" fmla="val 4753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2203704"/>
            <a:ext cx="4998568" cy="151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add_return(a, b):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     </a:t>
            </a:r>
            <a:pPr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hands it back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add_return(20, 30)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print("y is", y)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print("Double:", y * 2)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78728" y="3981298"/>
            <a:ext cx="5364328" cy="976579"/>
          </a:xfrm>
          <a:prstGeom prst="roundRect">
            <a:avLst>
              <a:gd name="adj" fmla="val 9363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07273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07328" y="4310482"/>
            <a:ext cx="4998568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is 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Double: 100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166360"/>
            <a:ext cx="795528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16636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5778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only displays a value on the screen, and the function gives back None. return hands the value back so it can be stored, calculated with, or passed to another function.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with Lists and Dictionaries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become powerful when they work on the data structures from the previous session.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766560" cy="4004615"/>
          </a:xfrm>
          <a:prstGeom prst="roundRect">
            <a:avLst>
              <a:gd name="adj" fmla="val 2283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400800" cy="3593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strength(roll):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"""Number of soldiers in the list."""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len(roll)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above_age(roll, limit):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"""Names of soldiers older than limit."""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 in roll: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s["age"] &gt; limit: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result.append(s["name"])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= [{"name": "Rao", "age": 29},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{"name": "Das", "age": 24},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{"name": "Khan", "age": 35}]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print("Strength:", strength(section))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print("Above 28:", above_age(section, 28))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874520"/>
            <a:ext cx="4007815" cy="891997"/>
          </a:xfrm>
          <a:prstGeom prst="roundRect">
            <a:avLst>
              <a:gd name="adj" fmla="val 10251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203704"/>
            <a:ext cx="3642055" cy="480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Strength: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Above 28: ['Rao', 'Khan']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35240" y="2995117"/>
            <a:ext cx="4007815" cy="2002536"/>
          </a:xfrm>
          <a:prstGeom prst="roundRect">
            <a:avLst>
              <a:gd name="adj" fmla="val 456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3177997"/>
            <a:ext cx="1152144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177997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562045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the whole list or dict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891229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[]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 a new list inside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4220413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 back the new list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549597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works for any section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Calling Other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task can be built from small functions, where one function calls the others. Each small function does one job and can be tested on its own.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8039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task into sub-tasks.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3425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is easy to test.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01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646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fuel_needed() can serve other plans.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315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31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3949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move_plan() reads like an order.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2938882"/>
          </a:xfrm>
          <a:prstGeom prst="roundRect">
            <a:avLst>
              <a:gd name="adj" fmla="val 3111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252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fuel_needed(km, kmpl):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round(km / kmpl * 1.1, 1)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move_hours(km, speed):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round(km / speed, 1)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move_plan(vehicle, km, kmpl, speed):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print(f"Vehicle : {vehicle}")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print(f"Fuel    : {fuel_needed(km, kmpl)} L")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print(f"Time    : {move_hours(km, speed)} h")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move_plan("ALS-07", 180, 4, 40)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676242"/>
            <a:ext cx="551657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76768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005426"/>
            <a:ext cx="515081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: ALS-07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    : 49.5 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   : 4.5 h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Local vs Global Variables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variable is created outside all functions and can be read anywhere. A local variable is created inside a function and exists only while that function runs.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8039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unit notice board: all can read.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07408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7083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patrol password: briefed only inside the mission.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9377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in as arguments.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4126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541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50468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globals inside functions.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2532888"/>
          </a:xfrm>
          <a:prstGeom prst="roundRect">
            <a:avLst>
              <a:gd name="adj" fmla="val 3610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= "5 RAJ RIF"  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global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brief_patrol():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= "TIGER"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local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print("Unit:", unit)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print("Password:", password)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brief_patrol()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print("Outside:", unit)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print(password)  -&gt; NameError: not defined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270248"/>
            <a:ext cx="551657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361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599432"/>
            <a:ext cx="515081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Unit: 5 RAJ RIF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TIGER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Outside: 5 RAJ RIF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vs User-defined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271016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come ready with Python: print(), len(), max(), sum() and many more.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150876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3048" y="1737360"/>
            <a:ext cx="1746504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3048" y="17373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1488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functions are the ones we write with def to solve our own problems.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6766560" cy="3344875"/>
          </a:xfrm>
          <a:prstGeom prst="roundRect">
            <a:avLst>
              <a:gd name="adj" fmla="val 2734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08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46704"/>
            <a:ext cx="6400800" cy="293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[78, 91, 64, 85, 55]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firing scores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print(len(scores), max(scores), min(scores))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print(sum(scores), sorted(scores))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print(round(sum(scores) / len(scores), 2))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pass_count(marks, cutoff=65):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user-defined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 in marks: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 &gt;= cutoff: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 += 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print("Passed:", pass_count(scores))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3017520"/>
            <a:ext cx="4007815" cy="1314907"/>
          </a:xfrm>
          <a:prstGeom prst="roundRect">
            <a:avLst>
              <a:gd name="adj" fmla="val 695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3108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346704"/>
            <a:ext cx="3642055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5 91 55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373 [55, 64, 78, 85, 91]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74.6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Passed: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4606747"/>
            <a:ext cx="796214" cy="384048"/>
          </a:xfrm>
          <a:prstGeom prst="roundRect">
            <a:avLst>
              <a:gd name="adj" fmla="val 19048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4606747"/>
            <a:ext cx="796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05774" y="4606747"/>
            <a:ext cx="796214" cy="384048"/>
          </a:xfrm>
          <a:prstGeom prst="roundRect">
            <a:avLst>
              <a:gd name="adj" fmla="val 19048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05774" y="4606747"/>
            <a:ext cx="796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76308" y="4606747"/>
            <a:ext cx="796214" cy="384048"/>
          </a:xfrm>
          <a:prstGeom prst="roundRect">
            <a:avLst>
              <a:gd name="adj" fmla="val 19048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76308" y="4606747"/>
            <a:ext cx="796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846841" y="4606747"/>
            <a:ext cx="796214" cy="384048"/>
          </a:xfrm>
          <a:prstGeom prst="roundRect">
            <a:avLst>
              <a:gd name="adj" fmla="val 19048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846841" y="4606747"/>
            <a:ext cx="796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35240" y="5109667"/>
            <a:ext cx="796214" cy="384048"/>
          </a:xfrm>
          <a:prstGeom prst="roundRect">
            <a:avLst>
              <a:gd name="adj" fmla="val 19048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35240" y="5109667"/>
            <a:ext cx="796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05774" y="5109667"/>
            <a:ext cx="796214" cy="384048"/>
          </a:xfrm>
          <a:prstGeom prst="roundRect">
            <a:avLst>
              <a:gd name="adj" fmla="val 19048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05774" y="5109667"/>
            <a:ext cx="796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776308" y="5109667"/>
            <a:ext cx="796214" cy="384048"/>
          </a:xfrm>
          <a:prstGeom prst="roundRect">
            <a:avLst>
              <a:gd name="adj" fmla="val 19048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76308" y="5109667"/>
            <a:ext cx="796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846841" y="5109667"/>
            <a:ext cx="796214" cy="384048"/>
          </a:xfrm>
          <a:prstGeom prst="roundRect">
            <a:avLst>
              <a:gd name="adj" fmla="val 19048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846841" y="5109667"/>
            <a:ext cx="796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Good Functions: Names &amp; Docstrings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function has a clear name, does one job, and has a docstring explaining what it does. help(function_name) shows that docstring to anyone using it.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16966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lowercase_with_underscores: calc_total.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3659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70001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"and" to describe it, split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6694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66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3036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inside the function.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79729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797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76072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help(grade)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docstring in the shell.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2532888"/>
          </a:xfrm>
          <a:prstGeom prst="roundRect">
            <a:avLst>
              <a:gd name="adj" fmla="val 3610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grade(marks):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grade for marks out of 100."""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marks &gt;= 85: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marks &gt;= 65: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"B"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"C"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print(grade(90), grade(70), grade(40))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print(grade.__doc__)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270248"/>
            <a:ext cx="5516575" cy="908914"/>
          </a:xfrm>
          <a:prstGeom prst="roundRect">
            <a:avLst>
              <a:gd name="adj" fmla="val 10060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361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599432"/>
            <a:ext cx="5150815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grade for marks out of 100.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Errors with Functions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/ Symptom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 missing after the def 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 report(name):   &lt;- add the colon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IndentationError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not indented under def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 the body by 4 spaces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called before def, or name misspelt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first; check spelling and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TypeError: missing argument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arguments than parameters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all values or give a default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happens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Brackets missing: report_in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with brackets: report_in()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is 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print() instead of return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the value from the 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when Python shows an error, read the LAST line first. It names the error and the line number.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19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Understanding: Predict the Output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64328" cy="1348740"/>
          </a:xfrm>
          <a:prstGeom prst="roundRect">
            <a:avLst>
              <a:gd name="adj" fmla="val 6780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37944"/>
            <a:ext cx="499856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square(n):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print(square(4) + square(2))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508760"/>
            <a:ext cx="5364328" cy="1560195"/>
          </a:xfrm>
          <a:prstGeom prst="roundRect">
            <a:avLst>
              <a:gd name="adj" fmla="val 5861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1837944"/>
            <a:ext cx="4998568" cy="1148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greet(name, rank="Sep"):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rank + " " + name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print(greet("Das"))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print(greet("Rao", "Nk"))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64328" cy="1771650"/>
          </a:xfrm>
          <a:prstGeom prst="roundRect">
            <a:avLst>
              <a:gd name="adj" fmla="val 5161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215384"/>
            <a:ext cx="4998568" cy="136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check(m):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&gt;= 40: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"Pass"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"Fail"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print(check(40), check(39))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3886200"/>
            <a:ext cx="5364328" cy="1983105"/>
          </a:xfrm>
          <a:prstGeom prst="roundRect">
            <a:avLst>
              <a:gd name="adj" fmla="val 4611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7328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4215384"/>
            <a:ext cx="499856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10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change():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99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change()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61695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+ 4: each call returns a value, and the values are added.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Sep Das  /  Nk Rao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uses its default "Sep" in the first call; "Nk" overrides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 Fail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&gt;= 40 is True so "Pass"; 39 fails the check so "Fail".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4B5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= 99 creates a NEW local variable; the global count is unchanged.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Programming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937760" cy="2148840"/>
          </a:xfrm>
          <a:prstGeom prst="roundRect">
            <a:avLst>
              <a:gd name="adj" fmla="val 4255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programming is dividing a large program into separate, independent modules, each responsible for one job. A module is simply a .py file containing functions and variables that other files can import.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306824"/>
            <a:ext cx="4434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has one role.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46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809744"/>
            <a:ext cx="4434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same module anywhere.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349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312664"/>
            <a:ext cx="4434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Team-friendly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work on separate files.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16459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F2A1B"/>
          </a:solidFill>
          <a:ln w="12700">
            <a:solidFill>
              <a:srgbClr val="1F2A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Battalion HQ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06840" y="2560320"/>
            <a:ext cx="0" cy="457200"/>
          </a:xfrm>
          <a:prstGeom prst="line">
            <a:avLst/>
          </a:prstGeom>
          <a:noFill/>
          <a:ln w="25400">
            <a:solidFill>
              <a:srgbClr val="4B5D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3017520"/>
            <a:ext cx="4023360" cy="0"/>
          </a:xfrm>
          <a:prstGeom prst="line">
            <a:avLst/>
          </a:prstGeom>
          <a:noFill/>
          <a:ln w="25400">
            <a:solidFill>
              <a:srgbClr val="4B5D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3017520"/>
            <a:ext cx="0" cy="365760"/>
          </a:xfrm>
          <a:prstGeom prst="line">
            <a:avLst/>
          </a:prstGeom>
          <a:noFill/>
          <a:ln w="25400">
            <a:solidFill>
              <a:srgbClr val="4B5D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33832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personnel.py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Adjutant: records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52560" y="3017520"/>
            <a:ext cx="0" cy="365760"/>
          </a:xfrm>
          <a:prstGeom prst="line">
            <a:avLst/>
          </a:prstGeom>
          <a:noFill/>
          <a:ln w="25400">
            <a:solidFill>
              <a:srgbClr val="4B5D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33832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38160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logistics.py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ration, fuel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064240" y="3017520"/>
            <a:ext cx="0" cy="365760"/>
          </a:xfrm>
          <a:prstGeom prst="line">
            <a:avLst/>
          </a:prstGeom>
          <a:noFill/>
          <a:ln w="25400">
            <a:solidFill>
              <a:srgbClr val="4B5D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9840" y="33832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returns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4663440"/>
            <a:ext cx="5516575" cy="1280160"/>
          </a:xfrm>
          <a:prstGeom prst="roundRect">
            <a:avLst>
              <a:gd name="adj" fmla="val 7143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4754880"/>
            <a:ext cx="5059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4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main.py use the functions written in the other files, just as HQ draws on the work of its staff branches.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Importing Your Own Module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172968" cy="274320"/>
          </a:xfrm>
          <a:prstGeom prst="roundRect">
            <a:avLst>
              <a:gd name="adj" fmla="val 26667"/>
            </a:avLst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WRITE THE MODULE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64328" cy="2126894"/>
          </a:xfrm>
          <a:prstGeom prst="roundRect">
            <a:avLst>
              <a:gd name="adj" fmla="val 4299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03704"/>
            <a:ext cx="4998568" cy="171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logistics.py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MEALS_PER_DAY = 3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ration(men, days):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men * days * MEALS_PER_DAY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fuel(distance, kmpl):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round(distance / kmpl * 1.1, 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1463040"/>
            <a:ext cx="2935224" cy="274320"/>
          </a:xfrm>
          <a:prstGeom prst="roundRect">
            <a:avLst>
              <a:gd name="adj" fmla="val 26667"/>
            </a:avLst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728" y="146304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IMPORT AND USE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8728" y="1874520"/>
            <a:ext cx="5364328" cy="1923898"/>
          </a:xfrm>
          <a:prstGeom prst="roundRect">
            <a:avLst>
              <a:gd name="adj" fmla="val 4753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203704"/>
            <a:ext cx="4998568" cy="151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  (same folder)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logistics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logistics import fuel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print(logistics.ration(30, 5))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print(fuel(150, 5))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print(logistics.MEALS_PER_DAY)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8728" y="4027018"/>
            <a:ext cx="5364328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411845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4356202"/>
            <a:ext cx="4998568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364328" cy="182880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80560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480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IMPORT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892040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logistics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 as logistics.fuel()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257800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logistics import fuel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 directly as fuel()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623560"/>
            <a:ext cx="490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logistics as lg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short alias: lg.fuel()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Module Habit: if __name__ == "__main__"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Python file has a built-in variable __name__. It equals "__main__" only when that file is run directly, so test code placed under this check does not run when the file is imported.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2153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directly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code runs.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231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782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74573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functions are loaded.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1266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312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7608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stay safe to import.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4301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843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8064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 </a:t>
            </a:r>
            <a:pPr indent="0" marL="0">
              <a:buNone/>
            </a:pPr>
            <a:r>
              <a:rPr lang="en-US" sz="14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used in almost all real code.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5516575" cy="1983105"/>
          </a:xfrm>
          <a:prstGeom prst="roundRect">
            <a:avLst>
              <a:gd name="adj" fmla="val 4611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837944"/>
            <a:ext cx="5150815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logistics.py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ration(men, days):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men * days * 3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runs only when logistics.py is run itself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print("Testing ration():", ration(10, 2))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3720465"/>
            <a:ext cx="5516575" cy="714375"/>
          </a:xfrm>
          <a:prstGeom prst="roundRect">
            <a:avLst>
              <a:gd name="adj" fmla="val 12800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3811905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049649"/>
            <a:ext cx="5150815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ration(): 60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Python's Standard Library Modules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modules that come with Python. Just import and use.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675120" cy="3547872"/>
          </a:xfrm>
          <a:prstGeom prst="roundRect">
            <a:avLst>
              <a:gd name="adj" fmla="val 2577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30936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math, random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date, timedelta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Straight-line distance between two map points (km)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print(math.dist((2, 3), (8, 11)))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Date to report back after 30 days leave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date(2026, 10, 1)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print("Report back on:", start + timedelta(days=30))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 sentry order for tonight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random.seed(7)             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repeatable for demo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sentries = ["Rao", "Das", "Khan", "Singh"]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random.shuffle(sentries)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print(sentries)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43800" y="1874520"/>
            <a:ext cx="4099255" cy="1111910"/>
          </a:xfrm>
          <a:prstGeom prst="roundRect">
            <a:avLst>
              <a:gd name="adj" fmla="val 822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203704"/>
            <a:ext cx="373349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back on: 2026-10-31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['Singh', 'Das', 'Rao', 'Khan']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3215030"/>
            <a:ext cx="4099255" cy="233172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3397910"/>
            <a:ext cx="1984248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339791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MODULES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781958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sqrt, dist, pi, ceil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111142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dates, rosters, leave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440326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shuffle, choice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769510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mean, median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098694"/>
            <a:ext cx="3687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/ write Excel-style data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1: Function-based Leave Manager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application built from small functions working on one dictionary.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949440" cy="4004615"/>
          </a:xfrm>
          <a:prstGeom prst="roundRect">
            <a:avLst>
              <a:gd name="adj" fmla="val 2283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583680" cy="3593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= {"Rao": 12, "Das": 30, "Khan": 5}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DB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balance (days)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show_all():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name, bal in leave.items():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print(f"{name:5}: {bal} days")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grant_leave(name, days):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not in leave: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"No such soldier"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days &gt; leave[name]: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f"Denied - only {leave[name]} days left"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leave[name] -= days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f"Granted {days} days to {name}"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print(grant_leave("Rao", 10))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print(grant_leave("Khan", 8))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print(grant_leave("Rana", 3))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show_all()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18120" y="1874520"/>
            <a:ext cx="3824935" cy="1670152"/>
          </a:xfrm>
          <a:prstGeom prst="roundRect">
            <a:avLst>
              <a:gd name="adj" fmla="val 5475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203704"/>
            <a:ext cx="3459175" cy="125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Granted 10 days to Rao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 - only 5 days left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such soldier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Rao  : 2 days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  : 30 days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Khan : 5 days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3773272"/>
            <a:ext cx="3824935" cy="2002536"/>
          </a:xfrm>
          <a:prstGeom prst="roundRect">
            <a:avLst>
              <a:gd name="adj" fmla="val 456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3956152"/>
            <a:ext cx="2221992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95615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 IN LAB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4340200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add_soldier(name, balance)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669384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cancel_leave(name, days)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998568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Menu with while loop + input()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5327752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Move functions into leave.py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2: Marks Analyser as Reusable Code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Structures marks analyser, rewritten with functions and reused for two different courses.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949440" cy="3420999"/>
          </a:xfrm>
          <a:prstGeom prst="roundRect">
            <a:avLst>
              <a:gd name="adj" fmla="val 2673"/>
            </a:avLst>
          </a:prstGeom>
          <a:solidFill>
            <a:srgbClr val="1B2016"/>
          </a:solidFill>
          <a:ln w="12700">
            <a:solidFill>
              <a:srgbClr val="1B20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03704"/>
            <a:ext cx="6583680" cy="300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average(marks):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round(sum(marks.values()) / len(marks), 1)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grade(m):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&gt;= 85: return "Marksman"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&gt;= 65: return "1st Class"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"Needs Trg"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report(course, marks):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print(f"--- {course} | Avg {average(marks)} ---")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name, m in marks.items():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print(f"{name:6} {m:3}  {grade(m)}")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report("Firing", {"Rao": 78, "Das": 91, "Khan": 64})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report("Map Reading", {"Singh": 85, "Verma": 55})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18120" y="1874520"/>
            <a:ext cx="3824935" cy="1864690"/>
          </a:xfrm>
          <a:prstGeom prst="roundRect">
            <a:avLst>
              <a:gd name="adj" fmla="val 4904"/>
            </a:avLst>
          </a:prstGeom>
          <a:solidFill>
            <a:srgbClr val="F2F4EE"/>
          </a:solidFill>
          <a:ln w="12700">
            <a:solidFill>
              <a:srgbClr val="D5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B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203704"/>
            <a:ext cx="3459175" cy="145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Firing | Avg 77.7 ---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Rao     78  1st Class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     91  Marksman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Khan    64  Needs Trg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Map Reading | Avg 70.0 ---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Singh   85  Marksman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Verma   55  Needs Trg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3967810"/>
            <a:ext cx="3824935" cy="2002536"/>
          </a:xfrm>
          <a:prstGeom prst="roundRect">
            <a:avLst>
              <a:gd name="adj" fmla="val 456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4150690"/>
            <a:ext cx="2459736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4150690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BETTER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4534738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job: calculate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863922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grade()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job: classify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5193106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report()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uses the other two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5522290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</a:t>
            </a:r>
            <a:pPr indent="0" marL="0">
              <a:buNone/>
            </a:pPr>
            <a:r>
              <a:rPr lang="en-US" sz="1200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 course, no new code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Group Project Topics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64328" cy="4572000"/>
          </a:xfrm>
          <a:prstGeom prst="roundRect">
            <a:avLst>
              <a:gd name="adj" fmla="val 2400"/>
            </a:avLst>
          </a:prstGeom>
          <a:solidFill>
            <a:srgbClr val="2B3825"/>
          </a:solidFill>
          <a:ln w="12700">
            <a:solidFill>
              <a:srgbClr val="2B38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1865376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35000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13432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 </a:t>
            </a:r>
            <a:pPr indent="0" marL="0">
              <a:buNone/>
            </a:pP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reusable, named block of code.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95351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16936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 </a:t>
            </a:r>
            <a:pPr indent="0" marL="0">
              <a:buNone/>
            </a:pP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positional, keyword, default, *args.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557016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20440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pPr indent="0" marL="0">
              <a:buNone/>
            </a:pP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results back (tuple for many).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23944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buNone/>
            </a:pP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stays inside; global is shared.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764024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727448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 </a:t>
            </a:r>
            <a:pPr indent="0" marL="0">
              <a:buNone/>
            </a:pPr>
            <a:r>
              <a:rPr lang="en-US" sz="1400" dirty="0">
                <a:solidFill>
                  <a:srgbClr val="C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files you import: organised code.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78728" y="1554480"/>
            <a:ext cx="5364328" cy="4572000"/>
          </a:xfrm>
          <a:prstGeom prst="roundRect">
            <a:avLst>
              <a:gd name="adj" fmla="val 2400"/>
            </a:avLst>
          </a:prstGeom>
          <a:solidFill>
            <a:srgbClr val="2B3825"/>
          </a:solidFill>
          <a:ln w="12700">
            <a:solidFill>
              <a:srgbClr val="2B38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53048" y="1783080"/>
            <a:ext cx="4123944" cy="274320"/>
          </a:xfrm>
          <a:prstGeom prst="roundRect">
            <a:avLst>
              <a:gd name="adj" fmla="val 2666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53048" y="1783080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TOPICS (ASSIGNED IN LAB)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53048" y="235000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53048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10248" y="2313432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Personnel Record System  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53048" y="295351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53048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10248" y="2916936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Firing / Course Marks Analyser  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53048" y="3557016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53048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010248" y="3520440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Ammunition Inventory Manager  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53048" y="416052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53048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010248" y="4123944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Fuel &amp; Move Planner  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53048" y="4764024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53048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010248" y="4727448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Roster &amp; Leave Manager  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53048" y="5367528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53048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010248" y="5330952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/ Visitor Entry Log  </a:t>
            </a:r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Lt. Col. Neeraj Sharma   |   28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MODULAR PROGRAMMING  ·  28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Further Reading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8191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54480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Foundation. The Python Tutorial, Sec. 4: More Control Flow Tools (Defining Functions).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https://docs.python.org/3/tutorial/controlflow.html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212848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Foundation. The Python Tutorial, Sec. 6: Modules.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https://docs.python.org/3/tutorial/modules.html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71216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Foundation. The Python Standard Library: Built-in Functions.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https://docs.python.org/3/library/functions.html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529584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van Rossum, B. Warsaw, A. Coghlan. PEP 8: Style Guide for Python Code.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https://peps.python.org/pep-0008/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15384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187952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B. Downey. Think Python, 2nd ed. O'Reilly / Green Tea Press, 2015. Ch. 3 (Functions), Ch. 6 (Fruitful Functions).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https://greenteapress.com/wp/think-python-2e/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73752"/>
            <a:ext cx="347472" cy="347472"/>
          </a:xfrm>
          <a:prstGeom prst="ellipse">
            <a:avLst/>
          </a:prstGeom>
          <a:solidFill>
            <a:srgbClr val="4B5D34"/>
          </a:solidFill>
          <a:ln w="12700">
            <a:solidFill>
              <a:srgbClr val="4B5D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846320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Sweigart. Automate the Boring Stuff with Python, 2nd ed. No Starch Press, 2019. Ch. 3 (Functions).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B5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https://automatetheboringstuff.com/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EEF1E8"/>
          </a:solidFill>
          <a:ln w="12700">
            <a:solidFill>
              <a:srgbClr val="EEF1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66928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follow the official Python documentation and the texts above. All army-context examples (patrols, logistics, leave, firing results, stores) are original illustrations prepared for this course; names and figures are fictional.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2026-09-27T06:57:45Z</dcterms:created>
  <dcterms:modified xsi:type="dcterms:W3CDTF">2026-09-27T06:57:45Z</dcterms:modified>
</cp:coreProperties>
</file>