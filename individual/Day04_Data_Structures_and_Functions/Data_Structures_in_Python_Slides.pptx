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66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session. We will learn how Python organises data, using examples drawn from unit-level work: nominal rolls, stores, vehicles, firing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each structure to something the audience already does on paper: registers, kote ledgers, firing result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has four built-in collection types. Everything else today is detail on these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 is the most used structure. Think of it as a column in a register where order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line and let the class predict the output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picks one item; slicing picks a range. Same rules work for strings and tuples.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tuple when changing the data would be a mistake, like a grid reference or a date of birth.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dictionary is exactly like one page of a service record: labelled fields with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get() avoids a crash when the key is missing. items() is the standard way to loop over a dictionary.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sorted() is used only to print sets in a fixed order; sets themselves have no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which structure would you use for a duty roster? For a list of PAN numbers? For a vehicle log?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pattern (list of dicts) is how most real data looks, including rows from Excel or a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groups type this in, then attempt the four lab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 thresholds are illustrative. Students can replace them with their own course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hand over to the Functions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4B5D34">
              <a:alpha val="45000"/>
            </a:srgbClr>
          </a:solidFill>
          <a:ln w="12700">
            <a:solidFill>
              <a:srgbClr val="4B5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3291840"/>
            <a:ext cx="3291840" cy="3291840"/>
          </a:xfrm>
          <a:prstGeom prst="ellipse">
            <a:avLst/>
          </a:prstGeom>
          <a:solidFill>
            <a:srgbClr val="C8B88A">
              <a:alpha val="20000"/>
            </a:srgbClr>
          </a:solidFill>
          <a:ln w="12700">
            <a:solidFill>
              <a:srgbClr val="C8B8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144000" y="1188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8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05072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  ·  SESSION 01.10.26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Python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 ·  Tuples  ·  Dictionaries  ·  Sets  ·  Indexing &amp; Slicing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Rathore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Thursday, 01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Structures Matter in a Unit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9344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rolls &amp; records  </a:t>
            </a: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details of hundreds of personnel in an organised way.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414016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ammunition  </a:t>
            </a: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holdings, issues and receipts accurately.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864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218688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data  </a:t>
            </a: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references and frequencies that must not change.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4864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023360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firing results, course marks, BPET/PPT scores.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4864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828032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 </a:t>
            </a: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record in seconds instead of flipping registers.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23760" y="1645920"/>
            <a:ext cx="4419295" cy="4480560"/>
          </a:xfrm>
          <a:prstGeom prst="roundRect">
            <a:avLst>
              <a:gd name="adj" fmla="val 2483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543800" y="1920240"/>
            <a:ext cx="1746504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543800" y="19202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377440"/>
            <a:ext cx="377921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</a:p>
          <a:p>
            <a:pPr marL="342900" indent="-342900">
              <a:spcAft>
                <a:spcPts val="600"/>
              </a:spcAft>
              <a:buSzPct val="100000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operations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structures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 Structure?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766560" cy="1600200"/>
          </a:xfrm>
          <a:prstGeom prst="roundRect">
            <a:avLst>
              <a:gd name="adj" fmla="val 5714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is a way of storing and organising data in memory so that it can be accessed, searched and modified efficiently.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80960" y="1508760"/>
            <a:ext cx="3962095" cy="1600200"/>
          </a:xfrm>
          <a:prstGeom prst="roundRect">
            <a:avLst>
              <a:gd name="adj" fmla="val 5714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1746504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955280" y="17373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ANALOGY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148840"/>
            <a:ext cx="3413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kote register: every weapon has a fixed place, a number and an owner, so it can be found in seconds.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567864" cy="2697480"/>
          </a:xfrm>
          <a:prstGeom prst="roundRect">
            <a:avLst>
              <a:gd name="adj" fmla="val 3561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754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changeable. Duplicates allowed.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5321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Patrol members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90824" y="3429000"/>
            <a:ext cx="2567864" cy="2697480"/>
          </a:xfrm>
          <a:prstGeom prst="roundRect">
            <a:avLst>
              <a:gd name="adj" fmla="val 3561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390824" y="365760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3390824" y="429768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619424" y="4754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fixed. Cannot be changed.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19424" y="55321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Grid reference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3429000"/>
            <a:ext cx="2567864" cy="2697480"/>
          </a:xfrm>
          <a:prstGeom prst="roundRect">
            <a:avLst>
              <a:gd name="adj" fmla="val 3561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233008" y="365760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{k: v}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233008" y="429768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461608" y="4754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 pairs. Look-up by key.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61608" y="55321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Soldier record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75191" y="3429000"/>
            <a:ext cx="2567864" cy="2697480"/>
          </a:xfrm>
          <a:prstGeom prst="roundRect">
            <a:avLst>
              <a:gd name="adj" fmla="val 3561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9075191" y="365760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075191" y="429768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303791" y="4754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unique items only.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303791" y="55321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Qualified personnel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ordered, changeable (mutable) collection of items written inside square brackets [ ]. It can hold mixed data types and allows duplicates.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325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keep their position (index).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9943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4599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628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 or change items.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932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 can appear twice.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6601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566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6235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types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numbers, True/False together.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2126894"/>
          </a:xfrm>
          <a:prstGeom prst="roundRect">
            <a:avLst>
              <a:gd name="adj" fmla="val 4299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171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Members of a patrol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patrol = ["Hav Singh", "Nk Rao", "L/Nk Das", "Sep Khan"]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print(patrol)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print("Strength:", len(patrol))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Mixed data: details of one vehicle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= ["BA No 21D-1234", "ALS", 2019, True]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print(vehicle[0], "- Year:", vehicle[2])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864254"/>
            <a:ext cx="551657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355080" y="395569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193438"/>
            <a:ext cx="515081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['Hav Singh', 'Nk Rao', 'L/Nk Das', 'Sep Khan']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Strength: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 No 21D-1234 - Year: 2019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Lists: Common Operations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maintaining the personal stores list of a soldier.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675120" cy="2938882"/>
          </a:xfrm>
          <a:prstGeom prst="roundRect">
            <a:avLst>
              <a:gd name="adj" fmla="val 3111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309360" cy="252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 = ["Rifle", "Helmet", "Water Bottle"]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stores.append("Compass")   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add at end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stores.insert(1, "Bayonet")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add at position 1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stores.remove("Water Bottle")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remove by value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stores.pop()        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remove last item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stores.sort()              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arrange A to Z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print(stores)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print("Removed:", last)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print("Helmet" in stores)  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is it held?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print("Items held:", len(stores))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43800" y="1874520"/>
            <a:ext cx="4099255" cy="1314907"/>
          </a:xfrm>
          <a:prstGeom prst="roundRect">
            <a:avLst>
              <a:gd name="adj" fmla="val 695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203704"/>
            <a:ext cx="3733495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['Bayonet', 'Helmet', 'Rifle']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Removed: Compass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held: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3418027"/>
            <a:ext cx="4099255" cy="2660904"/>
          </a:xfrm>
          <a:prstGeom prst="roundRect">
            <a:avLst>
              <a:gd name="adj" fmla="val 343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0" y="3600907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772400" y="3600907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984955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append(x)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at end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314139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insert(i, x)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at position 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643323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remove(x)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delete by value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972507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remove &amp; return last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301691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arrange in order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5630875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 list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 if present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&amp; Slicing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18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→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9202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37160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Gypsy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44952" y="19202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4B5D34"/>
          </a:solidFill>
          <a:ln w="12700">
            <a:solidFill>
              <a:srgbClr val="1F2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044952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44952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18304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18304" y="19202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718304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18304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91656" y="19202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4B5D34"/>
          </a:solidFill>
          <a:ln w="12700">
            <a:solidFill>
              <a:srgbClr val="1F2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391656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BMP-2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65008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65008" y="19202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065008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T-90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65008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738360" y="19202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4B5D34"/>
          </a:solidFill>
          <a:ln w="12700">
            <a:solidFill>
              <a:srgbClr val="1F2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973836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Tatra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order of march 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246120"/>
            <a:ext cx="5852160" cy="1805483"/>
          </a:xfrm>
          <a:prstGeom prst="roundRect">
            <a:avLst>
              <a:gd name="adj" fmla="val 5065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7724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3575304"/>
            <a:ext cx="5486400" cy="1394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convoy = ["Gypsy", "ALS", "Stallion", "BMP-2", "T-90", "Tatra"]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print(convoy[0])    </a:t>
            </a:r>
            <a:r>
              <a:rPr lang="en-US" sz="11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first vehicle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print(convoy[-1])   </a:t>
            </a:r>
            <a:r>
              <a:rPr lang="en-US" sz="11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last vehicle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print(convoy[1:4])  </a:t>
            </a:r>
            <a:r>
              <a:rPr lang="en-US" sz="11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index 1 up to 3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print(convoy[:3])   </a:t>
            </a:r>
            <a:r>
              <a:rPr lang="en-US" sz="11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first three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print(convoy[::2])  </a:t>
            </a:r>
            <a:r>
              <a:rPr lang="en-US" sz="11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every second vehicle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print(convoy[::-1]) </a:t>
            </a:r>
            <a:r>
              <a:rPr lang="en-US" sz="11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reverse order of march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3246120"/>
            <a:ext cx="4922215" cy="1619402"/>
          </a:xfrm>
          <a:prstGeom prst="roundRect">
            <a:avLst>
              <a:gd name="adj" fmla="val 5647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94944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575304"/>
            <a:ext cx="4556455" cy="120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Gypsy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['ALS', 'Stallion', 'BMP-2']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['Gypsy', 'ALS', 'Stallion']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['Gypsy', 'Stallion', 'T-90']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['Tatra', 'T-90', 'BMP-2', 'Stallion', 'ALS', 'Gypsy']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5094122"/>
            <a:ext cx="4922215" cy="960120"/>
          </a:xfrm>
          <a:prstGeom prst="roundRect">
            <a:avLst>
              <a:gd name="adj" fmla="val 9524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6949440" y="5185562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list[start : stop : step]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is NOT included. Negative index counts from the end.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is an ordered, unchangeable (immutable) collection written inside round brackets ( ). Once created, its items cannot be modified.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325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data that must never change.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9943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4599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628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 work like lists.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932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less memory than a list.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6601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566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6235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items to variables in one line.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2735885"/>
          </a:xfrm>
          <a:prstGeom prst="roundRect">
            <a:avLst>
              <a:gd name="adj" fmla="val 3342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232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Grid reference of a checkpoint (lat, long)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 = (34.1526, 77.5771)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lat, lon = checkpoint     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tuple unpacking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print("Lat:", lat, "Long:", lon)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 radio frequencies for the net (MHz)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freqs = (45.250, 46.125, 47.500)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print("Primary:", freqs[0])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print("Alternates:", freqs[1:])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checkpoint[0] = 35.0  -&gt; TypeError!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473245"/>
            <a:ext cx="551657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355080" y="4564685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802429"/>
            <a:ext cx="515081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Lat: 34.1526 Long: 77.5771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Primary: 45.25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Alternates: (46.125, 47.5)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08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data as key : value pairs inside curly braces { }. Values are accessed by their key, not by position. Keys must be unique.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325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field name → entry in a record.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9943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4599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628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look-up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key directly.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932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 or delete pairs.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6601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566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6235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Army No. identifies a soldier.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2938882"/>
          </a:xfrm>
          <a:prstGeom prst="roundRect">
            <a:avLst>
              <a:gd name="adj" fmla="val 3111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252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soldier =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"army_no": "15432189K",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"Ramesh Kumar",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"rank": "Naik",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"unit": "5 RAJ RIF",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"blood_group": "B+"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print(soldier["name"])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print(soldier["rank"], "of", soldier["unit"])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soldier["rank"] = "Havildar"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promotion!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print("New rank:", soldier["rank"])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676242"/>
            <a:ext cx="551657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355080" y="476768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005426"/>
            <a:ext cx="515081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Ramesh Kumar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Naik of 5 RAJ RIF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rank: Havildar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Dictionaries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fuel state of vehicles in a unit transport park.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675120" cy="2532888"/>
          </a:xfrm>
          <a:prstGeom prst="roundRect">
            <a:avLst>
              <a:gd name="adj" fmla="val 3610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3093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 = {"ALS": 120, "Gypsy": 40, "Tatra": 200}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fuel["Stallion"] = 150    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add a new vehicle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fuel["Gypsy"] += 20       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refuel the Gypsy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print(fuel.get("BMP-2", "Not held"))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veh, litres in fuel.items():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print(f"{veh:9} : {litres} L")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 fuel:", sum(fuel.values()), "L")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43800" y="1874520"/>
            <a:ext cx="4099255" cy="1720901"/>
          </a:xfrm>
          <a:prstGeom prst="roundRect">
            <a:avLst>
              <a:gd name="adj" fmla="val 5313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203704"/>
            <a:ext cx="3733495" cy="1309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held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      : 120 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Gypsy     : 60 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Tatra     : 200 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Stallion  : 150 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fuel: 530 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3824021"/>
            <a:ext cx="4099255" cy="2660904"/>
          </a:xfrm>
          <a:prstGeom prst="roundRect">
            <a:avLst>
              <a:gd name="adj" fmla="val 343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0" y="4006901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772400" y="4006901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390949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d[key]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/ update value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720133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d.get(k, def)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safe read with default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5049317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d.keys()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keys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5378501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d.values()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values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707685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d.items()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key-value pairs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6036869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d[key]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remove an entry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is an unordered collection of unique items written inside curly braces { }. Duplicates are removed automatically, and it supports set operations like union and intersection.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2153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entries.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231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4782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74573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indexing or slicing.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1266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5312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7608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| -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intersection, union, difference.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4301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5843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8064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Clean-up  </a:t>
            </a: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repeated names quickly.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2532888"/>
          </a:xfrm>
          <a:prstGeom prst="roundRect">
            <a:avLst>
              <a:gd name="adj" fmla="val 3610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drivers = {"Rao", "Das", "Khan", "Singh"}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 = {"Das", "Verma", "Khan"}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print(sorted(drivers &amp; signals))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qualified in both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print(sorted(drivers | signals))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all qualified men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print(sorted(drivers - signals))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drivers only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roll_call = ["Rao", "Das", "Rao", "Khan", "Das"]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print(sorted(set(roll_call)))   </a:t>
            </a: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remove repeats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print(len(set(roll_call)), "men present")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270248"/>
            <a:ext cx="5516575" cy="1517904"/>
          </a:xfrm>
          <a:prstGeom prst="roundRect">
            <a:avLst>
              <a:gd name="adj" fmla="val 60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355080" y="4361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599432"/>
            <a:ext cx="515081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['Das', 'Khan']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['Das', 'Khan', 'Rao', 'Singh', 'Verma']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['Rao', 'Singh']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['Das', 'Khan', 'Rao']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men present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vs Tuple vs Dictionary vs Set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6085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Brackets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 ]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key: value 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(insertion)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unique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(in)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Army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Patrol list, convoy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ref, frequencies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Soldier record, fuel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personnel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12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Structures: A Section Nominal Roll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records combine structures: a list of dictionaries, one dictionary per soldier.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223760" cy="3141878"/>
          </a:xfrm>
          <a:prstGeom prst="roundRect">
            <a:avLst>
              <a:gd name="adj" fmla="val 2910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858000" cy="2730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= [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{"no": "1541K", "name": "Rao",  "rank": "Nk",  "age": 29},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{"no": "1622M", "name": "Das",  "rank": "Sep", "age": 24},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{"no": "1498P", "name": "Khan", "rank": "Hav", "age": 35},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section: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print(s["no"], s["rank"], s["name"], "-", s["age"], "yrs")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s["age"]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print("Section strength:", len(section))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 age:", round(total / len(section), 1))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92440" y="1874520"/>
            <a:ext cx="3550615" cy="1517904"/>
          </a:xfrm>
          <a:prstGeom prst="roundRect">
            <a:avLst>
              <a:gd name="adj" fmla="val 60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3210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03704"/>
            <a:ext cx="318485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1541K Nk Rao - 29 yrs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1622M Sep Das - 24 yrs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1498P Hav Khan - 35 yrs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strength: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age: 29.3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3621024"/>
            <a:ext cx="3550615" cy="2002536"/>
          </a:xfrm>
          <a:prstGeom prst="roundRect">
            <a:avLst>
              <a:gd name="adj" fmla="val 456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21040" y="3803904"/>
            <a:ext cx="2578608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321040" y="38039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NESTED DATA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187952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section[1]</a:t>
            </a:r>
            <a:r>
              <a:rPr lang="en-US" sz="11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Das's full record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517136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section[1]["rank"]</a:t>
            </a:r>
            <a:r>
              <a:rPr lang="en-US" sz="11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"Sep"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846320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len(section)</a:t>
            </a:r>
            <a:r>
              <a:rPr lang="en-US" sz="11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strength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5175504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section.append({...})</a:t>
            </a:r>
            <a:r>
              <a:rPr lang="en-US" sz="11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 soldier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13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1: Personnel / Employee Records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of dictionaries, keyed by Army No. The same logic works for civilian employee records.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223760" cy="3750869"/>
          </a:xfrm>
          <a:prstGeom prst="roundRect">
            <a:avLst>
              <a:gd name="adj" fmla="val 2438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858000" cy="333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 =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"1541K": {"name": "Rao", "rank": "Nk",  "leave": 12},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"1622M": {"name": "Das", "rank": "Sep", "leave": 30},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new soldier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records["1498P"] = {"name": "Khan", "rank": "Hav", "leave": 5}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 by Army No.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= "1622M"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 in records: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print("Found:", records[no]["rank"], records[no]["name"])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Soldiers with less than 15 days leave balance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no, r in records.items():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r["leave"] &lt; 15: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print(no, r["name"], "- Leave bal:", r["leave"])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92440" y="1874520"/>
            <a:ext cx="355061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3210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03704"/>
            <a:ext cx="318485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Found: Sep Das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1541K Rao - Leave bal: 12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1498P Khan - Leave bal: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3215030"/>
            <a:ext cx="3550615" cy="2002536"/>
          </a:xfrm>
          <a:prstGeom prst="roundRect">
            <a:avLst>
              <a:gd name="adj" fmla="val 456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21040" y="3397910"/>
            <a:ext cx="1389888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321040" y="33979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TASKS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81958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a "unit" field to every record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111142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Delete a posted-out soldier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440326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 personnel by rank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769510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Print the roll sorted by name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Prateek   |  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14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2: Marks Analyser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firing results (or course marks) stored in a dictionary: name → score out of 100.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949440" cy="3344875"/>
          </a:xfrm>
          <a:prstGeom prst="roundRect">
            <a:avLst>
              <a:gd name="adj" fmla="val 2734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583680" cy="293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{"Rao": 78, "Das": 91, "Khan": 64,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"Singh": 85, "Verma": 55}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list(marks.values())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print("Highest :", max(scores))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print("Lowest  :", min(scores))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 :", round(sum(scores) / len(scores), 1))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print("Best Shot:", max(marks, key=marks.get))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 in marks.items():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&gt;= 85:   grade = "Marksman"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 &gt;= 65: grade = "1st Class"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grade = "Needs Trg"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print(f"{name:6} {m:3}  {grade}")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1874520"/>
            <a:ext cx="3824935" cy="2329891"/>
          </a:xfrm>
          <a:prstGeom prst="roundRect">
            <a:avLst>
              <a:gd name="adj" fmla="val 3925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04672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203704"/>
            <a:ext cx="3459175" cy="1918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: 91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  : 55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: 74.6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Shot: Das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Rao     78  1st Class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     91  Marksman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Khan    64  Needs Trg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Singh   85  Marksman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Verma   55  Needs Trg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4433011"/>
            <a:ext cx="3824935" cy="2002536"/>
          </a:xfrm>
          <a:prstGeom prst="roundRect">
            <a:avLst>
              <a:gd name="adj" fmla="val 456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46720" y="4615891"/>
            <a:ext cx="1389888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046720" y="461589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TASKS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4999939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 everyone below average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5329123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 men in each grade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5658307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Rank from top to bottom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5987491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Store results as (name, score) tuples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Pratik   |  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 · 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Lab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64328" cy="4572000"/>
          </a:xfrm>
          <a:prstGeom prst="roundRect">
            <a:avLst>
              <a:gd name="adj" fmla="val 2400"/>
            </a:avLst>
          </a:prstGeom>
          <a:solidFill>
            <a:srgbClr val="2B3825"/>
          </a:solidFill>
          <a:ln w="12700">
            <a:solidFill>
              <a:srgbClr val="2B38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865376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35000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1343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[ ]  </a:t>
            </a: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changeable. Rolls, convoys.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2296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4495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 )  </a:t>
            </a: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fixed. Grid refs, frequencies.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1304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77647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{k:v}  </a:t>
            </a: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look-up by key. Records.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54456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2296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50799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{ }  </a:t>
            </a: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items, set maths. Qualifications.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27608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2296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3951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 </a:t>
            </a: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list[start:stop:step], stop excluded.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78728" y="1554480"/>
            <a:ext cx="5364328" cy="4572000"/>
          </a:xfrm>
          <a:prstGeom prst="roundRect">
            <a:avLst>
              <a:gd name="adj" fmla="val 2400"/>
            </a:avLst>
          </a:prstGeom>
          <a:solidFill>
            <a:srgbClr val="2B3825"/>
          </a:solidFill>
          <a:ln w="12700">
            <a:solidFill>
              <a:srgbClr val="2B38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53048" y="1783080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553048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IN LAB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53048" y="235000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553048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10248" y="231343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weekly duty roster as a dict: day → name.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53048" y="308152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553048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10248" y="304495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5 checkpoint grid refs as tuples; print the last 2 by slicing.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53048" y="381304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6553048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010248" y="377647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soldiers common to the QRT and the football team with sets.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53048" y="454456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553048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010248" y="450799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marks analyser to list all who need retraining.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53048" y="527608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655304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010248" y="5239512"/>
            <a:ext cx="435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Functions &amp; Modular Programming (Neeraj).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Further Reading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8191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54480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Foundation. The Python Tutorial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https://docs.python.org/3/tutorial.html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212848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864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71216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486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267712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van Rossum, B. Warsaw, A. Coghlan. PEP 8: Style Guide for Python Code.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https://peps.python.org/pep-0008/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153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4864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71925" y="2894076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B. Downey. Think Python, 2nd ed. O'Reilly / Green Tea Press, 2015.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https://greenteapress.com/wp/think-python-2e/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71925" y="3575304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Sweigart. Automate the Boring Stuff with Python, 2nd ed. No Starch Press, 2019. Ch. 3 (Functions).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https://automatetheboringstuff.com/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22960" y="566928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follow the official Python documentation and the texts above. All army-context examples (patrols, logistics, leave, firing results, stores) are original illustrations prepared for this course; names and figures are fictional.</a:t>
            </a:r>
            <a:endParaRPr lang="en-US" sz="12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32DDEAC7-43BA-886D-81A1-21517F7DA266}"/>
              </a:ext>
            </a:extLst>
          </p:cNvPr>
          <p:cNvSpPr txBox="1"/>
          <p:nvPr/>
        </p:nvSpPr>
        <p:spPr>
          <a:xfrm>
            <a:off x="1171924" y="4217934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Academy, Python Essentials 1 course</a:t>
            </a:r>
            <a:endParaRPr lang="en-US" sz="1400" dirty="0"/>
          </a:p>
          <a:p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https://www.netacad.com/launch?id=1ce0c3a6-dceb-4285-b850-779879594c22&amp;tab=curriculum&amp;view=0543ed1f-9184-5777-81ba-f07ec865b258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3096</Words>
  <Application>Microsoft Office PowerPoint</Application>
  <PresentationFormat>Widescreen</PresentationFormat>
  <Paragraphs>478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Prateek Rathore</cp:lastModifiedBy>
  <cp:revision>6</cp:revision>
  <dcterms:created xsi:type="dcterms:W3CDTF">2026-09-23T07:27:18Z</dcterms:created>
  <dcterms:modified xsi:type="dcterms:W3CDTF">2026-10-01T03:00:09Z</dcterms:modified>
</cp:coreProperties>
</file>