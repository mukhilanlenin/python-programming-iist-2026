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0"/>
  </p:notesMasterIdLst>
  <p:sldIdLst>
    <p:sldId id="340" r:id="rId3"/>
    <p:sldId id="320" r:id="rId4"/>
    <p:sldId id="337" r:id="rId5"/>
    <p:sldId id="338" r:id="rId6"/>
    <p:sldId id="324" r:id="rId7"/>
    <p:sldId id="341" r:id="rId8"/>
    <p:sldId id="327" r:id="rId9"/>
    <p:sldId id="336" r:id="rId10"/>
    <p:sldId id="269" r:id="rId11"/>
    <p:sldId id="328" r:id="rId12"/>
    <p:sldId id="344" r:id="rId13"/>
    <p:sldId id="329" r:id="rId14"/>
    <p:sldId id="345" r:id="rId15"/>
    <p:sldId id="330" r:id="rId16"/>
    <p:sldId id="346" r:id="rId17"/>
    <p:sldId id="331" r:id="rId18"/>
    <p:sldId id="332" r:id="rId19"/>
    <p:sldId id="333" r:id="rId20"/>
    <p:sldId id="334" r:id="rId21"/>
    <p:sldId id="356" r:id="rId22"/>
    <p:sldId id="335" r:id="rId23"/>
    <p:sldId id="323" r:id="rId24"/>
    <p:sldId id="309" r:id="rId25"/>
    <p:sldId id="268" r:id="rId26"/>
    <p:sldId id="275" r:id="rId27"/>
    <p:sldId id="360" r:id="rId28"/>
    <p:sldId id="277" r:id="rId29"/>
    <p:sldId id="278" r:id="rId30"/>
    <p:sldId id="348" r:id="rId31"/>
    <p:sldId id="279" r:id="rId32"/>
    <p:sldId id="357" r:id="rId33"/>
    <p:sldId id="342" r:id="rId34"/>
    <p:sldId id="280" r:id="rId35"/>
    <p:sldId id="312" r:id="rId36"/>
    <p:sldId id="281" r:id="rId37"/>
    <p:sldId id="282" r:id="rId38"/>
    <p:sldId id="283" r:id="rId39"/>
    <p:sldId id="349" r:id="rId40"/>
    <p:sldId id="284" r:id="rId41"/>
    <p:sldId id="313" r:id="rId42"/>
    <p:sldId id="285" r:id="rId43"/>
    <p:sldId id="286" r:id="rId44"/>
    <p:sldId id="287" r:id="rId45"/>
    <p:sldId id="350" r:id="rId46"/>
    <p:sldId id="270" r:id="rId47"/>
    <p:sldId id="310" r:id="rId48"/>
    <p:sldId id="271" r:id="rId49"/>
    <p:sldId id="272" r:id="rId50"/>
    <p:sldId id="273" r:id="rId51"/>
    <p:sldId id="274" r:id="rId52"/>
    <p:sldId id="351" r:id="rId53"/>
    <p:sldId id="343" r:id="rId54"/>
    <p:sldId id="288" r:id="rId55"/>
    <p:sldId id="314" r:id="rId56"/>
    <p:sldId id="289" r:id="rId57"/>
    <p:sldId id="290" r:id="rId58"/>
    <p:sldId id="291" r:id="rId59"/>
    <p:sldId id="292" r:id="rId60"/>
    <p:sldId id="322" r:id="rId61"/>
    <p:sldId id="321" r:id="rId62"/>
    <p:sldId id="297" r:id="rId63"/>
    <p:sldId id="316" r:id="rId64"/>
    <p:sldId id="298" r:id="rId65"/>
    <p:sldId id="299" r:id="rId66"/>
    <p:sldId id="300" r:id="rId67"/>
    <p:sldId id="301" r:id="rId68"/>
    <p:sldId id="317" r:id="rId69"/>
    <p:sldId id="302" r:id="rId70"/>
    <p:sldId id="303" r:id="rId71"/>
    <p:sldId id="358" r:id="rId72"/>
    <p:sldId id="304" r:id="rId73"/>
    <p:sldId id="293" r:id="rId74"/>
    <p:sldId id="315" r:id="rId75"/>
    <p:sldId id="294" r:id="rId76"/>
    <p:sldId id="295" r:id="rId77"/>
    <p:sldId id="296" r:id="rId78"/>
    <p:sldId id="359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4722C-3466-46EA-98B7-BE74BE9EE3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DCB03-2A4B-49E0-9DFC-857A8FE8C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76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DCB03-2A4B-49E0-9DFC-857A8FE8C5D6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44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06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76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5DAD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WITH PYTHON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Analysis with Pandas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58968" y="3611880"/>
            <a:ext cx="1280160" cy="45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E1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raw tables to trustworthy, analysis-ready data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8A07C-E4DA-0A86-6142-229FAA66824C}"/>
              </a:ext>
            </a:extLst>
          </p:cNvPr>
          <p:cNvSpPr txBox="1"/>
          <p:nvPr/>
        </p:nvSpPr>
        <p:spPr>
          <a:xfrm>
            <a:off x="4233672" y="4517136"/>
            <a:ext cx="3922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Dr. Sheeba Rani J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Professor, Department of Avionics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2">
            <a:extLst>
              <a:ext uri="{FF2B5EF4-FFF2-40B4-BE49-F238E27FC236}">
                <a16:creationId xmlns:a16="http://schemas.microsoft.com/office/drawing/2014/main" id="{9482F745-E260-719D-A631-35188C8C0D2C}"/>
              </a:ext>
            </a:extLst>
          </p:cNvPr>
          <p:cNvSpPr txBox="1"/>
          <p:nvPr/>
        </p:nvSpPr>
        <p:spPr>
          <a:xfrm>
            <a:off x="640232" y="562356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>
                <a:solidFill>
                  <a:srgbClr val="1E2732"/>
                </a:solidFill>
                <a:latin typeface="Aptos"/>
              </a:rPr>
              <a:t>COURSE CONTENT</a:t>
            </a:r>
          </a:p>
        </p:txBody>
      </p:sp>
      <p:sp>
        <p:nvSpPr>
          <p:cNvPr id="57" name="Rounded Rectangle 4">
            <a:extLst>
              <a:ext uri="{FF2B5EF4-FFF2-40B4-BE49-F238E27FC236}">
                <a16:creationId xmlns:a16="http://schemas.microsoft.com/office/drawing/2014/main" id="{1223EDDE-C585-C6FB-9637-8A76E2A9861D}"/>
              </a:ext>
            </a:extLst>
          </p:cNvPr>
          <p:cNvSpPr/>
          <p:nvPr/>
        </p:nvSpPr>
        <p:spPr>
          <a:xfrm>
            <a:off x="640232" y="1751076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8" name="TextBox 5">
            <a:extLst>
              <a:ext uri="{FF2B5EF4-FFF2-40B4-BE49-F238E27FC236}">
                <a16:creationId xmlns:a16="http://schemas.microsoft.com/office/drawing/2014/main" id="{354A8BDE-B205-891F-F052-C373E241389A}"/>
              </a:ext>
            </a:extLst>
          </p:cNvPr>
          <p:cNvSpPr txBox="1"/>
          <p:nvPr/>
        </p:nvSpPr>
        <p:spPr>
          <a:xfrm>
            <a:off x="1262024" y="1732788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Introduction to Pandas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Series, DataFrames, installation &amp; data inspection</a:t>
            </a:r>
          </a:p>
        </p:txBody>
      </p:sp>
      <p:sp>
        <p:nvSpPr>
          <p:cNvPr id="59" name="Rounded Rectangle 6">
            <a:extLst>
              <a:ext uri="{FF2B5EF4-FFF2-40B4-BE49-F238E27FC236}">
                <a16:creationId xmlns:a16="http://schemas.microsoft.com/office/drawing/2014/main" id="{3766BEF2-3916-A3E5-AD37-00E17C04B5BD}"/>
              </a:ext>
            </a:extLst>
          </p:cNvPr>
          <p:cNvSpPr/>
          <p:nvPr/>
        </p:nvSpPr>
        <p:spPr>
          <a:xfrm>
            <a:off x="640232" y="2500884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7">
            <a:extLst>
              <a:ext uri="{FF2B5EF4-FFF2-40B4-BE49-F238E27FC236}">
                <a16:creationId xmlns:a16="http://schemas.microsoft.com/office/drawing/2014/main" id="{A0038A52-2E2D-44F9-9F1F-FF13FBC20101}"/>
              </a:ext>
            </a:extLst>
          </p:cNvPr>
          <p:cNvSpPr txBox="1"/>
          <p:nvPr/>
        </p:nvSpPr>
        <p:spPr>
          <a:xfrm>
            <a:off x="1262024" y="2482596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Need for Data Cleaning &amp; Analysis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Why real-world data needs preparation</a:t>
            </a:r>
          </a:p>
        </p:txBody>
      </p:sp>
      <p:sp>
        <p:nvSpPr>
          <p:cNvPr id="61" name="Rounded Rectangle 8">
            <a:extLst>
              <a:ext uri="{FF2B5EF4-FFF2-40B4-BE49-F238E27FC236}">
                <a16:creationId xmlns:a16="http://schemas.microsoft.com/office/drawing/2014/main" id="{819CC553-217B-96B0-8624-8F21472D0648}"/>
              </a:ext>
            </a:extLst>
          </p:cNvPr>
          <p:cNvSpPr/>
          <p:nvPr/>
        </p:nvSpPr>
        <p:spPr>
          <a:xfrm>
            <a:off x="640232" y="3250691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2" name="TextBox 9">
            <a:extLst>
              <a:ext uri="{FF2B5EF4-FFF2-40B4-BE49-F238E27FC236}">
                <a16:creationId xmlns:a16="http://schemas.microsoft.com/office/drawing/2014/main" id="{1DC1461F-6472-59F0-F6C6-D549235F218D}"/>
              </a:ext>
            </a:extLst>
          </p:cNvPr>
          <p:cNvSpPr txBox="1"/>
          <p:nvPr/>
        </p:nvSpPr>
        <p:spPr>
          <a:xfrm>
            <a:off x="1262024" y="3232403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Data Types in Pandas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Understanding, diagnosing &amp; converting data types</a:t>
            </a:r>
          </a:p>
        </p:txBody>
      </p:sp>
      <p:sp>
        <p:nvSpPr>
          <p:cNvPr id="63" name="Rounded Rectangle 10">
            <a:extLst>
              <a:ext uri="{FF2B5EF4-FFF2-40B4-BE49-F238E27FC236}">
                <a16:creationId xmlns:a16="http://schemas.microsoft.com/office/drawing/2014/main" id="{321DF614-36E1-01DB-52CF-90539B6E5CD3}"/>
              </a:ext>
            </a:extLst>
          </p:cNvPr>
          <p:cNvSpPr/>
          <p:nvPr/>
        </p:nvSpPr>
        <p:spPr>
          <a:xfrm>
            <a:off x="640232" y="4000500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4" name="TextBox 11">
            <a:extLst>
              <a:ext uri="{FF2B5EF4-FFF2-40B4-BE49-F238E27FC236}">
                <a16:creationId xmlns:a16="http://schemas.microsoft.com/office/drawing/2014/main" id="{652581F3-3A4B-1696-7F8E-22AC055FC008}"/>
              </a:ext>
            </a:extLst>
          </p:cNvPr>
          <p:cNvSpPr txBox="1"/>
          <p:nvPr/>
        </p:nvSpPr>
        <p:spPr>
          <a:xfrm>
            <a:off x="1262024" y="3982212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Missing Data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Detecting and handling NaN values</a:t>
            </a:r>
          </a:p>
        </p:txBody>
      </p:sp>
      <p:sp>
        <p:nvSpPr>
          <p:cNvPr id="65" name="Rounded Rectangle 12">
            <a:extLst>
              <a:ext uri="{FF2B5EF4-FFF2-40B4-BE49-F238E27FC236}">
                <a16:creationId xmlns:a16="http://schemas.microsoft.com/office/drawing/2014/main" id="{B337C191-1A7A-144B-7043-E6AF7B4CB879}"/>
              </a:ext>
            </a:extLst>
          </p:cNvPr>
          <p:cNvSpPr/>
          <p:nvPr/>
        </p:nvSpPr>
        <p:spPr>
          <a:xfrm>
            <a:off x="640232" y="4750308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6" name="TextBox 13">
            <a:extLst>
              <a:ext uri="{FF2B5EF4-FFF2-40B4-BE49-F238E27FC236}">
                <a16:creationId xmlns:a16="http://schemas.microsoft.com/office/drawing/2014/main" id="{5E959E21-EF54-733A-2FA1-73EEAA285ACF}"/>
              </a:ext>
            </a:extLst>
          </p:cNvPr>
          <p:cNvSpPr txBox="1"/>
          <p:nvPr/>
        </p:nvSpPr>
        <p:spPr>
          <a:xfrm>
            <a:off x="1262024" y="4732020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Duplicates &amp; Outliers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Finding duplicates and managing anomalous values</a:t>
            </a:r>
          </a:p>
        </p:txBody>
      </p:sp>
      <p:sp>
        <p:nvSpPr>
          <p:cNvPr id="67" name="Rounded Rectangle 14">
            <a:extLst>
              <a:ext uri="{FF2B5EF4-FFF2-40B4-BE49-F238E27FC236}">
                <a16:creationId xmlns:a16="http://schemas.microsoft.com/office/drawing/2014/main" id="{06EF9BDA-F8BD-8A3D-1593-4C98467E94C9}"/>
              </a:ext>
            </a:extLst>
          </p:cNvPr>
          <p:cNvSpPr/>
          <p:nvPr/>
        </p:nvSpPr>
        <p:spPr>
          <a:xfrm>
            <a:off x="640232" y="5500116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8" name="TextBox 15">
            <a:extLst>
              <a:ext uri="{FF2B5EF4-FFF2-40B4-BE49-F238E27FC236}">
                <a16:creationId xmlns:a16="http://schemas.microsoft.com/office/drawing/2014/main" id="{C1AD6598-4561-B30C-41C4-3E4360420D35}"/>
              </a:ext>
            </a:extLst>
          </p:cNvPr>
          <p:cNvSpPr txBox="1"/>
          <p:nvPr/>
        </p:nvSpPr>
        <p:spPr>
          <a:xfrm>
            <a:off x="1262024" y="5481828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Text Cleaning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Cleaning and standardizing string columns</a:t>
            </a:r>
          </a:p>
        </p:txBody>
      </p:sp>
      <p:sp>
        <p:nvSpPr>
          <p:cNvPr id="69" name="Rounded Rectangle 16">
            <a:extLst>
              <a:ext uri="{FF2B5EF4-FFF2-40B4-BE49-F238E27FC236}">
                <a16:creationId xmlns:a16="http://schemas.microsoft.com/office/drawing/2014/main" id="{4E8F08B0-7406-57B7-9862-A90108B02C82}"/>
              </a:ext>
            </a:extLst>
          </p:cNvPr>
          <p:cNvSpPr/>
          <p:nvPr/>
        </p:nvSpPr>
        <p:spPr>
          <a:xfrm>
            <a:off x="5806592" y="1751076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F17468F2-18E0-6DEA-2A13-2391890A3947}"/>
              </a:ext>
            </a:extLst>
          </p:cNvPr>
          <p:cNvSpPr txBox="1"/>
          <p:nvPr/>
        </p:nvSpPr>
        <p:spPr>
          <a:xfrm>
            <a:off x="6428383" y="1732788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Selecting &amp; Filtering Data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Choosing columns, rows and conditional subsets</a:t>
            </a:r>
          </a:p>
        </p:txBody>
      </p:sp>
      <p:sp>
        <p:nvSpPr>
          <p:cNvPr id="71" name="Rounded Rectangle 18">
            <a:extLst>
              <a:ext uri="{FF2B5EF4-FFF2-40B4-BE49-F238E27FC236}">
                <a16:creationId xmlns:a16="http://schemas.microsoft.com/office/drawing/2014/main" id="{C5F3B9AE-4FC3-2C3C-8B95-D4D1D1613138}"/>
              </a:ext>
            </a:extLst>
          </p:cNvPr>
          <p:cNvSpPr/>
          <p:nvPr/>
        </p:nvSpPr>
        <p:spPr>
          <a:xfrm>
            <a:off x="5806592" y="2500884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72" name="TextBox 19">
            <a:extLst>
              <a:ext uri="{FF2B5EF4-FFF2-40B4-BE49-F238E27FC236}">
                <a16:creationId xmlns:a16="http://schemas.microsoft.com/office/drawing/2014/main" id="{3A4C8519-5CA2-C911-A0B1-F6DE469311D9}"/>
              </a:ext>
            </a:extLst>
          </p:cNvPr>
          <p:cNvSpPr txBox="1"/>
          <p:nvPr/>
        </p:nvSpPr>
        <p:spPr>
          <a:xfrm>
            <a:off x="6428383" y="2482596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Calculated (New) Columns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Vectorized calculations and feature creation</a:t>
            </a:r>
          </a:p>
        </p:txBody>
      </p:sp>
      <p:sp>
        <p:nvSpPr>
          <p:cNvPr id="73" name="Rounded Rectangle 20">
            <a:extLst>
              <a:ext uri="{FF2B5EF4-FFF2-40B4-BE49-F238E27FC236}">
                <a16:creationId xmlns:a16="http://schemas.microsoft.com/office/drawing/2014/main" id="{50B30FAB-5A20-3446-3E33-1F6D0FC16F47}"/>
              </a:ext>
            </a:extLst>
          </p:cNvPr>
          <p:cNvSpPr/>
          <p:nvPr/>
        </p:nvSpPr>
        <p:spPr>
          <a:xfrm>
            <a:off x="5806592" y="3250691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74" name="TextBox 21">
            <a:extLst>
              <a:ext uri="{FF2B5EF4-FFF2-40B4-BE49-F238E27FC236}">
                <a16:creationId xmlns:a16="http://schemas.microsoft.com/office/drawing/2014/main" id="{19FCFF9F-D367-6833-71BA-BA2C5FD8C717}"/>
              </a:ext>
            </a:extLst>
          </p:cNvPr>
          <p:cNvSpPr txBox="1"/>
          <p:nvPr/>
        </p:nvSpPr>
        <p:spPr>
          <a:xfrm>
            <a:off x="6428383" y="3232403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Grouping &amp; Statistics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groupby(), aggregation and summary statistics</a:t>
            </a:r>
          </a:p>
        </p:txBody>
      </p:sp>
      <p:sp>
        <p:nvSpPr>
          <p:cNvPr id="75" name="Rounded Rectangle 22">
            <a:extLst>
              <a:ext uri="{FF2B5EF4-FFF2-40B4-BE49-F238E27FC236}">
                <a16:creationId xmlns:a16="http://schemas.microsoft.com/office/drawing/2014/main" id="{DD3244D3-EC18-CFFE-263E-C81C1DCBCCEB}"/>
              </a:ext>
            </a:extLst>
          </p:cNvPr>
          <p:cNvSpPr/>
          <p:nvPr/>
        </p:nvSpPr>
        <p:spPr>
          <a:xfrm>
            <a:off x="5806592" y="4000500"/>
            <a:ext cx="475488" cy="384048"/>
          </a:xfrm>
          <a:prstGeom prst="round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6" name="TextBox 23">
            <a:extLst>
              <a:ext uri="{FF2B5EF4-FFF2-40B4-BE49-F238E27FC236}">
                <a16:creationId xmlns:a16="http://schemas.microsoft.com/office/drawing/2014/main" id="{D8E4250F-BC89-C515-5508-6C791333FDE7}"/>
              </a:ext>
            </a:extLst>
          </p:cNvPr>
          <p:cNvSpPr txBox="1"/>
          <p:nvPr/>
        </p:nvSpPr>
        <p:spPr>
          <a:xfrm>
            <a:off x="6428383" y="3982212"/>
            <a:ext cx="4251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64769"/>
                </a:solidFill>
                <a:latin typeface="Aptos"/>
              </a:rPr>
              <a:t>Merge &amp; Combine</a:t>
            </a:r>
          </a:p>
          <a:p>
            <a:pPr>
              <a:spcBef>
                <a:spcPts val="100"/>
              </a:spcBef>
              <a:defRPr sz="1000">
                <a:solidFill>
                  <a:srgbClr val="5A626E"/>
                </a:solidFill>
                <a:latin typeface="Aptos"/>
              </a:defRPr>
            </a:pPr>
            <a:r>
              <a:t>Joining and concatenating DataFrames</a:t>
            </a:r>
          </a:p>
        </p:txBody>
      </p:sp>
      <p:sp>
        <p:nvSpPr>
          <p:cNvPr id="79" name="Rounded Rectangle 26">
            <a:extLst>
              <a:ext uri="{FF2B5EF4-FFF2-40B4-BE49-F238E27FC236}">
                <a16:creationId xmlns:a16="http://schemas.microsoft.com/office/drawing/2014/main" id="{43A09FD8-C6D3-55C0-D591-6ABE5466261D}"/>
              </a:ext>
            </a:extLst>
          </p:cNvPr>
          <p:cNvSpPr/>
          <p:nvPr/>
        </p:nvSpPr>
        <p:spPr>
          <a:xfrm>
            <a:off x="640232" y="6323076"/>
            <a:ext cx="1005840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305C8A"/>
                </a:solidFill>
                <a:latin typeface="Aptos"/>
              </a:rPr>
              <a:t>Overall workflow: Inspect → Clean → Validate → Analyze → Combine →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A3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is data processing required today?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is produced faster than it can be used, 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rarely usable as it arrives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 rot="5400000">
            <a:off x="457200" y="180136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variety keep growing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Invoices, scanners, GPS logs, sensors and apps each use their own format. They must be combined and standardized.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 rot="5400000">
            <a:off x="6309360" y="180136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messy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67512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typos and mixed formats are normal. Dirty input gives Garbage In, Garbage Out.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 rot="5400000">
            <a:off x="457200" y="312724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data-driven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3429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like "Which carrier is late most often?" can only be answered from clean, structured data.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 rot="5400000">
            <a:off x="6309360" y="312724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and risk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0" y="3429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shows waste, bottlenecks and risks early. Manual spreadsheet work is slow and error-prone.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 rot="5400000">
            <a:off x="457200" y="445312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and ML depend on it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dirty or inconsistent data are unreliable. Cleaning comes before modeling.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 rot="5400000">
            <a:off x="6309360" y="445312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and trust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67512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 records every cleaning step, so reports can be re-run and audited with the same result.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solidFill>
            <a:srgbClr val="E6E6EE"/>
          </a:solidFill>
          <a:ln w="12700">
            <a:solidFill>
              <a:srgbClr val="E6E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raw, inconsistent records  →  a trustworthy dataset that can be analyzed, shared and acted 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48FE39-2148-5E72-9BFD-82E54B32313F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A3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Pandas for data processing?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needs a tool that 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powerful, concise and repeatable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Pandas is Python's main library for tabular data.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 rot="5400000">
            <a:off x="457200" y="180136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Tables as one object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olds rows and columns together, like a spreadsheet, instead of many parallel lists and dictionaries.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 rot="5400000">
            <a:off x="6309360" y="180136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 and vectorized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67512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on NumPy, one expression works on a whole column with no loops.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 rot="5400000">
            <a:off x="457200" y="312724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cleaning tools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3429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Inbuild methods are available to fix the issues in raw data.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 rot="5400000">
            <a:off x="6309360" y="312724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 one line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0" y="3429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groupby, merge turns raw rows into summaries and new features quickly.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 rot="5400000">
            <a:off x="457200" y="445312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common formats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CSV and Excel and save cleaned results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 rot="5400000">
            <a:off x="6309360" y="4453128"/>
            <a:ext cx="182880" cy="182880"/>
          </a:xfrm>
          <a:prstGeom prst="triangle">
            <a:avLst/>
          </a:prstGeom>
          <a:solidFill>
            <a:srgbClr val="3A3AB0"/>
          </a:solidFill>
          <a:ln w="12700">
            <a:solidFill>
              <a:srgbClr val="3A3A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widely used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67512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Scripts record every step, and Pandas works with NumPy, Matplotlib and scikit-learn.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4A75C9-7F3E-089A-74EC-3AF002CA26C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5920820-7284-0F02-2B1D-B07B8F12F969}"/>
              </a:ext>
            </a:extLst>
          </p:cNvPr>
          <p:cNvSpPr/>
          <p:nvPr/>
        </p:nvSpPr>
        <p:spPr>
          <a:xfrm>
            <a:off x="1371752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EBF5FB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Introduction to Pandas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Overview, Installation, Series, </a:t>
            </a:r>
            <a:r>
              <a:rPr dirty="0" err="1"/>
              <a:t>DataFrames</a:t>
            </a:r>
            <a:r>
              <a:rPr dirty="0"/>
              <a:t> &amp; Inspection Functions</a:t>
            </a:r>
          </a:p>
        </p:txBody>
      </p:sp>
    </p:spTree>
    <p:extLst>
      <p:ext uri="{BB962C8B-B14F-4D97-AF65-F5344CB8AC3E}">
        <p14:creationId xmlns:p14="http://schemas.microsoft.com/office/powerpoint/2010/main" val="344881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2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What is Pandas?</a:t>
            </a:r>
          </a:p>
        </p:txBody>
      </p:sp>
      <p:sp>
        <p:nvSpPr>
          <p:cNvPr id="3" name="Shape 3"/>
          <p:cNvSpPr/>
          <p:nvPr/>
        </p:nvSpPr>
        <p:spPr>
          <a:xfrm>
            <a:off x="548792" y="1250000"/>
            <a:ext cx="11094415" cy="74000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1300" dirty="0">
                <a:solidFill>
                  <a:srgbClr val="2C3E50"/>
                </a:solidFill>
              </a:rPr>
              <a:t>Overview: </a:t>
            </a:r>
            <a:r>
              <a:rPr lang="en-US" sz="1300" b="1" dirty="0">
                <a:solidFill>
                  <a:srgbClr val="2C3E50"/>
                </a:solidFill>
              </a:rPr>
              <a:t>Pandas</a:t>
            </a:r>
            <a:r>
              <a:rPr lang="en-US" sz="1300" dirty="0">
                <a:solidFill>
                  <a:srgbClr val="2C3E50"/>
                </a:solidFill>
              </a:rPr>
              <a:t> provides core data structures designed for quick, intuitive data cleaning and analysis. </a:t>
            </a:r>
          </a:p>
        </p:txBody>
      </p:sp>
      <p:sp>
        <p:nvSpPr>
          <p:cNvPr id="4" name="Shape 4"/>
          <p:cNvSpPr/>
          <p:nvPr/>
        </p:nvSpPr>
        <p:spPr>
          <a:xfrm>
            <a:off x="548944" y="2190000"/>
            <a:ext cx="5400000" cy="2115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1500" b="1" dirty="0">
                <a:solidFill>
                  <a:srgbClr val="2C3E50"/>
                </a:solidFill>
              </a:rPr>
              <a:t>What is Pandas?</a:t>
            </a:r>
          </a:p>
          <a:p>
            <a:pPr marL="228600" indent="-228600" algn="l">
              <a:spcBef>
                <a:spcPts val="600"/>
              </a:spcBef>
              <a:buClr>
                <a:srgbClr val="2980B9"/>
              </a:buClr>
              <a:buFont typeface="Arial"/>
              <a:buChar char="•"/>
            </a:pPr>
            <a:r>
              <a:rPr lang="en-US" sz="1300" dirty="0">
                <a:solidFill>
                  <a:srgbClr val="5D6D7E"/>
                </a:solidFill>
              </a:rPr>
              <a:t>A Python library for working with tabular data.</a:t>
            </a:r>
          </a:p>
          <a:p>
            <a:pPr marL="228600" indent="-228600" algn="l">
              <a:spcBef>
                <a:spcPts val="600"/>
              </a:spcBef>
              <a:buClr>
                <a:srgbClr val="2980B9"/>
              </a:buClr>
              <a:buFont typeface="Arial"/>
              <a:buChar char="•"/>
            </a:pPr>
            <a:r>
              <a:rPr lang="en-US" sz="1300" dirty="0">
                <a:solidFill>
                  <a:srgbClr val="5D6D7E"/>
                </a:solidFill>
              </a:rPr>
              <a:t>A table is usually represented as a DataFrame.</a:t>
            </a:r>
          </a:p>
          <a:p>
            <a:pPr marL="228600" indent="-228600" algn="l">
              <a:spcBef>
                <a:spcPts val="600"/>
              </a:spcBef>
              <a:buClr>
                <a:srgbClr val="2980B9"/>
              </a:buClr>
              <a:buFont typeface="Arial"/>
              <a:buChar char="•"/>
            </a:pPr>
            <a:r>
              <a:rPr lang="en-US" sz="1300" dirty="0">
                <a:solidFill>
                  <a:srgbClr val="5D6D7E"/>
                </a:solidFill>
              </a:rPr>
              <a:t>A single labeled column is a Series.</a:t>
            </a:r>
          </a:p>
        </p:txBody>
      </p:sp>
      <p:sp>
        <p:nvSpPr>
          <p:cNvPr id="5" name="Shape 5"/>
          <p:cNvSpPr/>
          <p:nvPr/>
        </p:nvSpPr>
        <p:spPr>
          <a:xfrm>
            <a:off x="548944" y="4505000"/>
            <a:ext cx="5400000" cy="2115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500" b="1" dirty="0" err="1">
                <a:solidFill>
                  <a:schemeClr val="tx1"/>
                </a:solidFill>
              </a:rPr>
              <a:t>DataFrames</a:t>
            </a:r>
            <a:r>
              <a:rPr lang="en-IN" sz="1500" b="1" dirty="0">
                <a:solidFill>
                  <a:schemeClr val="tx1"/>
                </a:solidFill>
              </a:rPr>
              <a:t> Basics</a:t>
            </a:r>
            <a:endParaRPr lang="en-US" sz="1500" b="1" dirty="0">
              <a:solidFill>
                <a:schemeClr val="tx1"/>
              </a:solidFill>
            </a:endParaRPr>
          </a:p>
          <a:p>
            <a:pPr marL="228600" indent="-228600" algn="l">
              <a:spcBef>
                <a:spcPts val="600"/>
              </a:spcBef>
              <a:buClr>
                <a:srgbClr val="2980B9"/>
              </a:buClr>
              <a:buFont typeface="Arial"/>
              <a:buChar char="•"/>
            </a:pPr>
            <a:r>
              <a:rPr lang="en-US" sz="1300" dirty="0">
                <a:solidFill>
                  <a:srgbClr val="5D6D7E"/>
                </a:solidFill>
              </a:rPr>
              <a:t>DataFrame ≈ worksheet/table.</a:t>
            </a:r>
          </a:p>
          <a:p>
            <a:pPr marL="228600" indent="-228600" algn="l">
              <a:spcBef>
                <a:spcPts val="600"/>
              </a:spcBef>
              <a:buClr>
                <a:srgbClr val="2980B9"/>
              </a:buClr>
              <a:buFont typeface="Arial"/>
              <a:buChar char="•"/>
            </a:pPr>
            <a:r>
              <a:rPr lang="en-US" sz="1300" dirty="0">
                <a:solidFill>
                  <a:srgbClr val="5D6D7E"/>
                </a:solidFill>
              </a:rPr>
              <a:t>Rows represent records; columns represent variables.</a:t>
            </a:r>
          </a:p>
          <a:p>
            <a:pPr marL="228600" indent="-228600" algn="l">
              <a:spcBef>
                <a:spcPts val="600"/>
              </a:spcBef>
              <a:buClr>
                <a:srgbClr val="2980B9"/>
              </a:buClr>
              <a:buFont typeface="Arial"/>
              <a:buChar char="•"/>
            </a:pPr>
            <a:r>
              <a:rPr lang="en-US" sz="1300" dirty="0">
                <a:solidFill>
                  <a:srgbClr val="5D6D7E"/>
                </a:solidFill>
              </a:rPr>
              <a:t>Unlike Excel, operations can be repeated automatically in code.</a:t>
            </a:r>
          </a:p>
        </p:txBody>
      </p:sp>
      <p:sp>
        <p:nvSpPr>
          <p:cNvPr id="6" name="Shape 6"/>
          <p:cNvSpPr/>
          <p:nvPr/>
        </p:nvSpPr>
        <p:spPr>
          <a:xfrm>
            <a:off x="6243359" y="2575833"/>
            <a:ext cx="5400000" cy="1343333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1500" b="1" dirty="0">
                <a:solidFill>
                  <a:srgbClr val="2C3E50"/>
                </a:solidFill>
              </a:rPr>
              <a:t>High-Performance Data Structure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 dirty="0">
                <a:solidFill>
                  <a:srgbClr val="5D6D7E"/>
                </a:solidFill>
              </a:rPr>
              <a:t>Pandas is Python's primary library for working with structured, tabular data (similar to Excel sheets or SQL tables).</a:t>
            </a:r>
          </a:p>
        </p:txBody>
      </p:sp>
      <p:sp>
        <p:nvSpPr>
          <p:cNvPr id="7" name="Shape 7"/>
          <p:cNvSpPr/>
          <p:nvPr/>
        </p:nvSpPr>
        <p:spPr>
          <a:xfrm>
            <a:off x="6243359" y="4717493"/>
            <a:ext cx="5400000" cy="1343333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1500" b="1" dirty="0">
                <a:solidFill>
                  <a:srgbClr val="2C3E50"/>
                </a:solidFill>
              </a:rPr>
              <a:t>Built on NumPy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 dirty="0">
                <a:solidFill>
                  <a:srgbClr val="5D6D7E"/>
                </a:solidFill>
              </a:rPr>
              <a:t>Leverages fast C-based array calculations under the hood for rapid data manipulation.</a:t>
            </a:r>
          </a:p>
        </p:txBody>
      </p:sp>
    </p:spTree>
    <p:extLst>
      <p:ext uri="{BB962C8B-B14F-4D97-AF65-F5344CB8AC3E}">
        <p14:creationId xmlns:p14="http://schemas.microsoft.com/office/powerpoint/2010/main" val="351729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7504C6-F694-355E-B9E3-0B18E9857E94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Installation &amp; Library Import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4F1777-FCA1-1132-D26B-B6CA9852D8B3}"/>
              </a:ext>
            </a:extLst>
          </p:cNvPr>
          <p:cNvSpPr/>
          <p:nvPr/>
        </p:nvSpPr>
        <p:spPr>
          <a:xfrm>
            <a:off x="548945" y="128016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C3E50"/>
                </a:solidFill>
              </a:defRPr>
            </a:pPr>
            <a:r>
              <a:t>Installing via pip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Run 'pip install pandas' in your terminal or command prompt.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5E9143-BC8F-5D44-E6EE-3BBFDF5A0A78}"/>
              </a:ext>
            </a:extLst>
          </p:cNvPr>
          <p:cNvSpPr/>
          <p:nvPr/>
        </p:nvSpPr>
        <p:spPr>
          <a:xfrm>
            <a:off x="548945" y="298704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C3E50"/>
                </a:solidFill>
              </a:defRPr>
            </a:pPr>
            <a:r>
              <a:t>Installing via Anaconda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Pre-packaged with Anaconda distribution ('conda install pandas').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180980-FEB9-8A69-7BA8-68FA4B3880FE}"/>
              </a:ext>
            </a:extLst>
          </p:cNvPr>
          <p:cNvSpPr/>
          <p:nvPr/>
        </p:nvSpPr>
        <p:spPr>
          <a:xfrm>
            <a:off x="548945" y="469392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C3E50"/>
                </a:solidFill>
              </a:defRPr>
            </a:pPr>
            <a:r>
              <a:t>Standard Import Convention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Always import pandas using the alias 'pd': import pandas as pd</a:t>
            </a:r>
          </a:p>
        </p:txBody>
      </p:sp>
    </p:spTree>
    <p:extLst>
      <p:ext uri="{BB962C8B-B14F-4D97-AF65-F5344CB8AC3E}">
        <p14:creationId xmlns:p14="http://schemas.microsoft.com/office/powerpoint/2010/main" val="387339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9763201-41F8-3E8B-9B80-B58C53191DB7}"/>
              </a:ext>
            </a:extLst>
          </p:cNvPr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A3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HR employee data represented as a table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992A429-212E-C973-562E-02BE0FC743BE}"/>
              </a:ext>
            </a:extLst>
          </p:cNvPr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employee, one column per attribute, </a:t>
            </a:r>
            <a:r>
              <a:rPr lang="en-US" sz="1600" dirty="0">
                <a:solidFill>
                  <a:srgbClr val="E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 per column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monthly HR export named hr_employees.csv</a:t>
            </a:r>
            <a:endParaRPr lang="en-US" sz="1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7EF922FC-8FC5-A7B2-A823-C4ED0DB9D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10608"/>
              </p:ext>
            </p:extLst>
          </p:nvPr>
        </p:nvGraphicFramePr>
        <p:xfrm>
          <a:off x="457200" y="1554480"/>
          <a:ext cx="11247120" cy="2468880"/>
        </p:xfrm>
        <a:graphic>
          <a:graphicData uri="http://schemas.openxmlformats.org/drawingml/2006/table">
            <a:tbl>
              <a:tblPr/>
              <a:tblGrid>
                <a:gridCol w="438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9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60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 Brown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15/02/2024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bob smith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2024-03-01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 Jones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2024-03-05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Lee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$75,000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2024-03-05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Lee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$75,000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2024-03-10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 Rao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Resigned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2024-06-30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12,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Farid Khan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2024-04-02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Resigned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2024-05-20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E40942D3-EDED-F7CB-39B0-AA9F00D1CAD2}"/>
              </a:ext>
            </a:extLst>
          </p:cNvPr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7533E4E-AA87-F76E-DD20-E125A58DD429}"/>
              </a:ext>
            </a:extLst>
          </p:cNvPr>
          <p:cNvSpPr txBox="1"/>
          <p:nvPr/>
        </p:nvSpPr>
        <p:spPr>
          <a:xfrm>
            <a:off x="457200" y="44805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3 and 4 are exact duplicates (repeated upload)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case and stray spaces (red _): " bob smith ", TECHNICAL, delhi_, CHENNAI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formats: 15/02/2024, Mar 12, 2024 (dates are text)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stored as text: $52,000, 48,500, N/A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age, salary, name; N/A is a fake NaN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age 250 and -5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labels: staff vs Staff, active vs Active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exit_date is legitimate: still employed</a:t>
            </a:r>
            <a:endParaRPr lang="en-US" sz="12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1629931-5C58-1C57-CBFF-27E90333A3BA}"/>
              </a:ext>
            </a:extLst>
          </p:cNvPr>
          <p:cNvSpPr txBox="1"/>
          <p:nvPr/>
        </p:nvSpPr>
        <p:spPr>
          <a:xfrm>
            <a:off x="658368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want answered</a:t>
            </a:r>
            <a:endParaRPr lang="en-US" sz="18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74B75E7-F179-D755-03F8-08FCC24EC654}"/>
              </a:ext>
            </a:extLst>
          </p:cNvPr>
          <p:cNvSpPr txBox="1"/>
          <p:nvPr/>
        </p:nvSpPr>
        <p:spPr>
          <a:xfrm>
            <a:off x="6583680" y="44805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salary per department?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city has the most employees?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employees joined each month?</a:t>
            </a:r>
            <a:endParaRPr lang="en-US" sz="12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849C4-A4D3-885A-BEBB-CE1267F90720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  <a:latin typeface="Calibri Body"/>
                <a:ea typeface="Calibri" pitchFamily="34" charset="-122"/>
                <a:cs typeface="Calibri" pitchFamily="34" charset="-120"/>
              </a:rPr>
              <a:t>HR employee data</a:t>
            </a:r>
            <a:endParaRPr sz="2200" dirty="0">
              <a:solidFill>
                <a:schemeClr val="bg1"/>
              </a:solidFill>
              <a:latin typeface="Calibri Body"/>
            </a:endParaRPr>
          </a:p>
        </p:txBody>
      </p:sp>
    </p:spTree>
    <p:extLst>
      <p:ext uri="{BB962C8B-B14F-4D97-AF65-F5344CB8AC3E}">
        <p14:creationId xmlns:p14="http://schemas.microsoft.com/office/powerpoint/2010/main" val="33870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 Data Preparation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886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1. Inspect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Examine data types, shapes, missing counts, and summary statistics.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04287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2. Clean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Convert types, handle missing values, strip whitespace, and drop duplicates.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792" y="3328415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3. Validate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Verify domain constraints (e.g., Age between 0 and 120, positive prices).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52544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4. Analyze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Filter, group, aggregate, and visualize clean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76671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5. Export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Save cleaned datasets and final summary tables for business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Series()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93FE79-7896-CE5A-CBFB-5982C135157D}"/>
              </a:ext>
            </a:extLst>
          </p:cNvPr>
          <p:cNvSpPr/>
          <p:nvPr/>
        </p:nvSpPr>
        <p:spPr>
          <a:xfrm>
            <a:off x="548945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pd.Series</a:t>
            </a:r>
            <a:r>
              <a:rPr dirty="0"/>
              <a:t>(data=None, index=None, </a:t>
            </a:r>
            <a:r>
              <a:rPr dirty="0" err="1"/>
              <a:t>dtype</a:t>
            </a:r>
            <a:r>
              <a:rPr dirty="0"/>
              <a:t>=None)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C9475A-CACB-BB75-AEDB-7F9A6A777780}"/>
              </a:ext>
            </a:extLst>
          </p:cNvPr>
          <p:cNvSpPr/>
          <p:nvPr/>
        </p:nvSpPr>
        <p:spPr>
          <a:xfrm>
            <a:off x="548945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Creates a 1D labeled array capable of holding any data type.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data</a:t>
            </a:r>
            <a:r>
              <a:rPr lang="en-US" sz="1100" dirty="0">
                <a:solidFill>
                  <a:srgbClr val="2C3E50"/>
                </a:solidFill>
              </a:rPr>
              <a:t> – 1D array-like (Python list, tuple, NumPy array), dictionary (</a:t>
            </a:r>
            <a:r>
              <a:rPr lang="en-US" sz="1100" dirty="0" err="1">
                <a:solidFill>
                  <a:srgbClr val="2C3E50"/>
                </a:solidFill>
              </a:rPr>
              <a:t>dict</a:t>
            </a:r>
            <a:r>
              <a:rPr lang="en-US" sz="1100" dirty="0">
                <a:solidFill>
                  <a:srgbClr val="2C3E50"/>
                </a:solidFill>
              </a:rPr>
              <a:t>), or a single scalar value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index</a:t>
            </a:r>
            <a:r>
              <a:rPr lang="en-US" sz="1100" dirty="0">
                <a:solidFill>
                  <a:srgbClr val="2C3E50"/>
                </a:solidFill>
              </a:rPr>
              <a:t> – Sequence of custom row labels (e.g., strings, dates) or None (defaults to integer range 0, 1, 2...)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 err="1">
                <a:solidFill>
                  <a:srgbClr val="2C3E50"/>
                </a:solidFill>
                <a:latin typeface="Courier New"/>
                <a:cs typeface="Courier New"/>
              </a:rPr>
              <a:t>dtype</a:t>
            </a:r>
            <a:r>
              <a:rPr lang="en-US" sz="1100" dirty="0">
                <a:solidFill>
                  <a:srgbClr val="2C3E50"/>
                </a:solidFill>
              </a:rPr>
              <a:t> – Target data type, e.g. 'int64', 'float64', 'object', 'bool', 'category'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5CE09D-9467-C7DA-8206-30B66FFCE769}"/>
              </a:ext>
            </a:extLst>
          </p:cNvPr>
          <p:cNvSpPr/>
          <p:nvPr/>
        </p:nvSpPr>
        <p:spPr>
          <a:xfrm>
            <a:off x="6035345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# Create Series from a list</a:t>
            </a:r>
            <a:br/>
            <a:r>
              <a:t>scores = pd.Series([85, 90, 78], index=['Alice', 'Bob', 'Charlie'])</a:t>
            </a:r>
            <a:br/>
            <a:r>
              <a:t>print(scores)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0AFD3A-8F62-1A96-71BB-2D140DC35903}"/>
              </a:ext>
            </a:extLst>
          </p:cNvPr>
          <p:cNvSpPr/>
          <p:nvPr/>
        </p:nvSpPr>
        <p:spPr>
          <a:xfrm>
            <a:off x="6035345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Alice      85</a:t>
            </a:r>
            <a:br/>
            <a:r>
              <a:t>Bob        90</a:t>
            </a:r>
            <a:br/>
            <a:r>
              <a:t>Charlie    78</a:t>
            </a:r>
            <a:br/>
            <a:r>
              <a:t>dtype: int64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>
                <a:solidFill>
                  <a:srgbClr val="FFFFFF"/>
                </a:solidFill>
              </a:rPr>
              <a:t>Series() – Examples</a:t>
            </a:r>
          </a:p>
        </p:txBody>
      </p:sp>
      <p:sp>
        <p:nvSpPr>
          <p:cNvPr id="4" name="Code Card"/>
          <p:cNvSpPr/>
          <p:nvPr/>
        </p:nvSpPr>
        <p:spPr>
          <a:xfrm>
            <a:off x="548945" y="1161288"/>
            <a:ext cx="5608015" cy="36259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numpy as np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1. From a dictionary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s_dict = pd.Series({'Alice': 85, 'Bob': 90,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'Charlie': 78})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print(s_dict)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2. From a scalar (broadcast)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s_scalar = pd.Series(10, index=['a', 'b', 'c'],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dtype='float64')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print(s_scalar)</a:t>
            </a:r>
          </a:p>
        </p:txBody>
      </p:sp>
      <p:sp>
        <p:nvSpPr>
          <p:cNvPr id="12" name="Output Card"/>
          <p:cNvSpPr/>
          <p:nvPr/>
        </p:nvSpPr>
        <p:spPr>
          <a:xfrm>
            <a:off x="7488975" y="1337576"/>
            <a:ext cx="3624986" cy="159596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1. From a dictionary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Alice      85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Bob        90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Charlie    78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dtype: int64</a:t>
            </a:r>
          </a:p>
        </p:txBody>
      </p:sp>
      <p:sp>
        <p:nvSpPr>
          <p:cNvPr id="13" name="Output Card"/>
          <p:cNvSpPr/>
          <p:nvPr/>
        </p:nvSpPr>
        <p:spPr>
          <a:xfrm>
            <a:off x="7488975" y="3536659"/>
            <a:ext cx="3624986" cy="159596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2. From a scalar (broadcast)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a    10.0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b    10.0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c    10.0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dtype: float64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3A41CF-5B12-57A5-60B1-CEC13C6BD2C8}"/>
              </a:ext>
            </a:extLst>
          </p:cNvPr>
          <p:cNvSpPr/>
          <p:nvPr/>
        </p:nvSpPr>
        <p:spPr>
          <a:xfrm>
            <a:off x="152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 b="1">
                <a:solidFill>
                  <a:srgbClr val="FFFFFF"/>
                </a:solidFill>
              </a:defRPr>
            </a:pPr>
            <a:r>
              <a:rPr lang="en-IN" dirty="0" err="1"/>
              <a:t>Functio</a:t>
            </a:r>
            <a:r>
              <a:rPr dirty="0"/>
              <a:t>n: </a:t>
            </a:r>
            <a:r>
              <a:rPr dirty="0" err="1"/>
              <a:t>DataFrame</a:t>
            </a:r>
            <a:r>
              <a:rPr dirty="0"/>
              <a:t>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0EE88A-4B7F-19F2-7205-A68C8243480A}"/>
              </a:ext>
            </a:extLst>
          </p:cNvPr>
          <p:cNvSpPr/>
          <p:nvPr/>
        </p:nvSpPr>
        <p:spPr>
          <a:xfrm>
            <a:off x="548792" y="134874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pd.DataFrame(data=None, index=None, columns=None)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78C205-014C-38D8-483B-92FC57F8F5B6}"/>
              </a:ext>
            </a:extLst>
          </p:cNvPr>
          <p:cNvSpPr/>
          <p:nvPr/>
        </p:nvSpPr>
        <p:spPr>
          <a:xfrm>
            <a:off x="548792" y="276606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Creates a 2D labeled tabular data structure with rows and columns.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data</a:t>
            </a:r>
            <a:r>
              <a:rPr lang="en-US" sz="1100" dirty="0">
                <a:solidFill>
                  <a:srgbClr val="2C3E50"/>
                </a:solidFill>
              </a:rPr>
              <a:t> – Dictionary of lists/Series, 2D NumPy array, list of dictionaries, or another </a:t>
            </a:r>
            <a:r>
              <a:rPr lang="en-US" sz="1100" dirty="0" err="1">
                <a:solidFill>
                  <a:srgbClr val="2C3E50"/>
                </a:solidFill>
              </a:rPr>
              <a:t>DataFrame</a:t>
            </a:r>
            <a:endParaRPr lang="en-US" sz="1100" dirty="0">
              <a:solidFill>
                <a:srgbClr val="2C3E50"/>
              </a:solidFill>
            </a:endParaRP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index</a:t>
            </a:r>
            <a:r>
              <a:rPr lang="en-US" sz="1100" dirty="0">
                <a:solidFill>
                  <a:srgbClr val="2C3E50"/>
                </a:solidFill>
              </a:rPr>
              <a:t> – Custom row index labels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columns</a:t>
            </a:r>
            <a:r>
              <a:rPr lang="en-US" sz="1100" dirty="0">
                <a:solidFill>
                  <a:srgbClr val="2C3E50"/>
                </a:solidFill>
              </a:rPr>
              <a:t> – Custom column names/headers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C8851-A1CD-605B-B574-823340D30C72}"/>
              </a:ext>
            </a:extLst>
          </p:cNvPr>
          <p:cNvSpPr/>
          <p:nvPr/>
        </p:nvSpPr>
        <p:spPr>
          <a:xfrm>
            <a:off x="6035192" y="134874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data = {</a:t>
            </a:r>
            <a:br/>
            <a:r>
              <a:t>    'Name': ['Alice', 'Bob'],</a:t>
            </a:r>
            <a:br/>
            <a:r>
              <a:t>    'Age': [25, 30]</a:t>
            </a:r>
            <a:br/>
            <a:r>
              <a:t>}</a:t>
            </a:r>
            <a:br/>
            <a:r>
              <a:t>df = pd.DataFrame(data)</a:t>
            </a:r>
            <a:br/>
            <a:r>
              <a:t>print(df)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AECD5B-CEA0-3A9E-C561-5EFFDA87F0BF}"/>
              </a:ext>
            </a:extLst>
          </p:cNvPr>
          <p:cNvSpPr/>
          <p:nvPr/>
        </p:nvSpPr>
        <p:spPr>
          <a:xfrm>
            <a:off x="6035192" y="441198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 Name  Age</a:t>
            </a:r>
            <a:br/>
            <a:r>
              <a:t>0  Alice   25</a:t>
            </a:r>
            <a:br/>
            <a:r>
              <a:t>1    Bob   30</a:t>
            </a:r>
          </a:p>
        </p:txBody>
      </p:sp>
    </p:spTree>
    <p:extLst>
      <p:ext uri="{BB962C8B-B14F-4D97-AF65-F5344CB8AC3E}">
        <p14:creationId xmlns:p14="http://schemas.microsoft.com/office/powerpoint/2010/main" val="500117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 err="1">
                <a:solidFill>
                  <a:srgbClr val="FFFFFF"/>
                </a:solidFill>
              </a:rPr>
              <a:t>DataFrame</a:t>
            </a:r>
            <a:r>
              <a:rPr lang="en-US" sz="2200" b="1" dirty="0">
                <a:solidFill>
                  <a:srgbClr val="FFFFFF"/>
                </a:solidFill>
              </a:rPr>
              <a:t>() - Examples</a:t>
            </a:r>
          </a:p>
        </p:txBody>
      </p:sp>
      <p:sp>
        <p:nvSpPr>
          <p:cNvPr id="4" name="Code Card"/>
          <p:cNvSpPr/>
          <p:nvPr/>
        </p:nvSpPr>
        <p:spPr>
          <a:xfrm>
            <a:off x="487985" y="2059832"/>
            <a:ext cx="5608015" cy="3283035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1. From a 2D list with index/columns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df_2d = pd.DataFrame([[9, 3], [10, 4]],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index=['R1', 'R2'],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columns=['Price', 'Qty'])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print(df_2d)</a:t>
            </a:r>
          </a:p>
        </p:txBody>
      </p:sp>
      <p:sp>
        <p:nvSpPr>
          <p:cNvPr id="12" name="Output Card"/>
          <p:cNvSpPr/>
          <p:nvPr/>
        </p:nvSpPr>
        <p:spPr>
          <a:xfrm>
            <a:off x="6465648" y="2059832"/>
            <a:ext cx="5492343" cy="1938869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1. From a 2D list with index/columns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Price  Qty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R1      9    3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R2     10    4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7E8E72-0104-6A57-B567-F9229D272689}"/>
              </a:ext>
            </a:extLst>
          </p:cNvPr>
          <p:cNvSpPr/>
          <p:nvPr/>
        </p:nvSpPr>
        <p:spPr>
          <a:xfrm>
            <a:off x="152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read_csv</a:t>
            </a:r>
            <a:r>
              <a:rPr dirty="0"/>
              <a:t>() / </a:t>
            </a:r>
            <a:r>
              <a:rPr dirty="0" err="1"/>
              <a:t>read_excel</a:t>
            </a:r>
            <a:r>
              <a:rPr dirty="0"/>
              <a:t>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32AECEB-1AE3-802B-69EC-DD291621B341}"/>
              </a:ext>
            </a:extLst>
          </p:cNvPr>
          <p:cNvSpPr/>
          <p:nvPr/>
        </p:nvSpPr>
        <p:spPr>
          <a:xfrm>
            <a:off x="548792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pd.read_csv(filepath, sep=',', header=0)</a:t>
            </a:r>
            <a:br/>
            <a:r>
              <a:t>pd.read_excel(io, sheet_name=0)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C6AC42-015E-2DF3-B2BC-86A9F076ECE0}"/>
              </a:ext>
            </a:extLst>
          </p:cNvPr>
          <p:cNvSpPr/>
          <p:nvPr/>
        </p:nvSpPr>
        <p:spPr>
          <a:xfrm>
            <a:off x="548792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Loads data from external files directly into a Pandas </a:t>
            </a:r>
            <a:r>
              <a:rPr dirty="0" err="1"/>
              <a:t>DataFrame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 err="1">
                <a:solidFill>
                  <a:srgbClr val="2C3E50"/>
                </a:solidFill>
                <a:latin typeface="Courier New"/>
                <a:cs typeface="Courier New"/>
              </a:rPr>
              <a:t>filepath</a:t>
            </a:r>
            <a:r>
              <a:rPr lang="en-US" sz="1100" dirty="0">
                <a:solidFill>
                  <a:srgbClr val="2C3E50"/>
                </a:solidFill>
              </a:rPr>
              <a:t> – String file path (e.g., 'data.csv') or URL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 err="1">
                <a:solidFill>
                  <a:srgbClr val="2C3E50"/>
                </a:solidFill>
                <a:latin typeface="Courier New"/>
                <a:cs typeface="Courier New"/>
              </a:rPr>
              <a:t>sep</a:t>
            </a:r>
            <a:r>
              <a:rPr lang="en-US" sz="1100" dirty="0">
                <a:solidFill>
                  <a:srgbClr val="2C3E50"/>
                </a:solidFill>
              </a:rPr>
              <a:t> – Character delimiter for CSVs (e.g., ',', '\t', ';'; default ',')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header</a:t>
            </a:r>
            <a:r>
              <a:rPr lang="en-US" sz="1100" dirty="0">
                <a:solidFill>
                  <a:srgbClr val="2C3E50"/>
                </a:solidFill>
              </a:rPr>
              <a:t> – Row number containing column titles (0 for first row, None if no header)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A6388E-8E4E-89B3-9145-C76194B69273}"/>
              </a:ext>
            </a:extLst>
          </p:cNvPr>
          <p:cNvSpPr/>
          <p:nvPr/>
        </p:nvSpPr>
        <p:spPr>
          <a:xfrm>
            <a:off x="6035192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/>
              <a:t># Reading a CSV file</a:t>
            </a: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('employees.csv')</a:t>
            </a:r>
            <a:br>
              <a:rPr dirty="0"/>
            </a:br>
            <a:r>
              <a:rPr dirty="0"/>
              <a:t>print(</a:t>
            </a:r>
            <a:r>
              <a:rPr dirty="0" err="1"/>
              <a:t>f'Shape</a:t>
            </a:r>
            <a:r>
              <a:rPr dirty="0"/>
              <a:t>: {</a:t>
            </a:r>
            <a:r>
              <a:rPr dirty="0" err="1"/>
              <a:t>df.shape</a:t>
            </a:r>
            <a:r>
              <a:rPr dirty="0"/>
              <a:t>}')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705BF6-E630-3A7B-325D-4E07CA5DF54F}"/>
              </a:ext>
            </a:extLst>
          </p:cNvPr>
          <p:cNvSpPr/>
          <p:nvPr/>
        </p:nvSpPr>
        <p:spPr>
          <a:xfrm>
            <a:off x="6035192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Shape: (100, 5)</a:t>
            </a:r>
          </a:p>
        </p:txBody>
      </p:sp>
    </p:spTree>
    <p:extLst>
      <p:ext uri="{BB962C8B-B14F-4D97-AF65-F5344CB8AC3E}">
        <p14:creationId xmlns:p14="http://schemas.microsoft.com/office/powerpoint/2010/main" val="397972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 err="1">
                <a:solidFill>
                  <a:srgbClr val="FFFFFF"/>
                </a:solidFill>
              </a:rPr>
              <a:t>read_csv</a:t>
            </a:r>
            <a:r>
              <a:rPr lang="en-US" sz="2200" b="1" dirty="0">
                <a:solidFill>
                  <a:srgbClr val="FFFFFF"/>
                </a:solidFill>
              </a:rPr>
              <a:t>() / </a:t>
            </a:r>
            <a:r>
              <a:rPr lang="en-US" sz="2200" b="1" dirty="0" err="1">
                <a:solidFill>
                  <a:srgbClr val="FFFFFF"/>
                </a:solidFill>
              </a:rPr>
              <a:t>read_excel</a:t>
            </a:r>
            <a:r>
              <a:rPr lang="en-US" sz="2200" b="1" dirty="0">
                <a:solidFill>
                  <a:srgbClr val="FFFFFF"/>
                </a:solidFill>
              </a:rPr>
              <a:t>()- Example</a:t>
            </a:r>
          </a:p>
        </p:txBody>
      </p:sp>
      <p:sp>
        <p:nvSpPr>
          <p:cNvPr id="3" name="Parameters Card"/>
          <p:cNvSpPr/>
          <p:nvPr/>
        </p:nvSpPr>
        <p:spPr>
          <a:xfrm>
            <a:off x="548945" y="1188720"/>
            <a:ext cx="5303520" cy="33744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l">
              <a:spcBef>
                <a:spcPts val="1200"/>
              </a:spcBef>
              <a:buNone/>
            </a:pPr>
            <a:endParaRPr lang="en-US" sz="1300" b="1" dirty="0">
              <a:solidFill>
                <a:srgbClr val="2980B9"/>
              </a:solidFill>
              <a:latin typeface="Courier New"/>
              <a:cs typeface="Courier New"/>
            </a:endParaRPr>
          </a:p>
          <a:p>
            <a:pPr algn="l">
              <a:spcBef>
                <a:spcPts val="1200"/>
              </a:spcBef>
              <a:buNone/>
            </a:pPr>
            <a:r>
              <a:rPr lang="en-US" sz="1300" b="1" dirty="0" err="1">
                <a:solidFill>
                  <a:srgbClr val="2980B9"/>
                </a:solidFill>
                <a:latin typeface="Courier New"/>
                <a:cs typeface="Courier New"/>
              </a:rPr>
              <a:t>pd.read_excel</a:t>
            </a:r>
            <a:r>
              <a:rPr lang="en-US" sz="1300" b="1" dirty="0">
                <a:solidFill>
                  <a:srgbClr val="2980B9"/>
                </a:solidFill>
                <a:latin typeface="Courier New"/>
                <a:cs typeface="Courier New"/>
              </a:rPr>
              <a:t>(io, sheet_name)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io</a:t>
            </a:r>
            <a:r>
              <a:rPr lang="en-US" sz="1200" b="0" dirty="0">
                <a:solidFill>
                  <a:srgbClr val="2C3E50"/>
                </a:solidFill>
              </a:rPr>
              <a:t> – String file path or URL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sheet_name</a:t>
            </a:r>
            <a:r>
              <a:rPr lang="en-US" sz="1200" b="0" dirty="0">
                <a:solidFill>
                  <a:srgbClr val="2C3E50"/>
                </a:solidFill>
              </a:rPr>
              <a:t> – Sheet index (0) or sheet name string for Excel files</a:t>
            </a:r>
          </a:p>
        </p:txBody>
      </p:sp>
      <p:sp>
        <p:nvSpPr>
          <p:cNvPr id="4" name="Code Card"/>
          <p:cNvSpPr/>
          <p:nvPr/>
        </p:nvSpPr>
        <p:spPr>
          <a:xfrm>
            <a:off x="6035345" y="1188720"/>
            <a:ext cx="5608015" cy="337447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(sample files created beforehand)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Load CSV: comma delimiter, default header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df_csv = pd.read_csv('employees.csv',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sep=',', header=0)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print(df_csv)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Load Excel worksheet by sheet name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df_excel = pd.read_excel('sales.xlsx',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    sheet_name='Q1_Sales')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print(df_excel)</a:t>
            </a:r>
          </a:p>
        </p:txBody>
      </p:sp>
      <p:sp>
        <p:nvSpPr>
          <p:cNvPr id="11" name="Output Card"/>
          <p:cNvSpPr/>
          <p:nvPr/>
        </p:nvSpPr>
        <p:spPr>
          <a:xfrm>
            <a:off x="548945" y="4691212"/>
            <a:ext cx="5492343" cy="184742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Load CSV: comma delimiter, default header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emp_id   name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   101  Alice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  102    Bob</a:t>
            </a:r>
          </a:p>
        </p:txBody>
      </p:sp>
      <p:sp>
        <p:nvSpPr>
          <p:cNvPr id="12" name="Output Card"/>
          <p:cNvSpPr/>
          <p:nvPr/>
        </p:nvSpPr>
        <p:spPr>
          <a:xfrm>
            <a:off x="6151016" y="4691212"/>
            <a:ext cx="5492343" cy="184742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Load Excel worksheet by sheet name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Item  Sales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  A    120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 B     95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55F00-FCCE-E8A0-0EDB-E0BA46C0EB9C}"/>
              </a:ext>
            </a:extLst>
          </p:cNvPr>
          <p:cNvSpPr/>
          <p:nvPr/>
        </p:nvSpPr>
        <p:spPr>
          <a:xfrm>
            <a:off x="152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head() &amp; tail()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51396D-6CC0-9568-5433-3FEC8D149CC7}"/>
              </a:ext>
            </a:extLst>
          </p:cNvPr>
          <p:cNvSpPr/>
          <p:nvPr/>
        </p:nvSpPr>
        <p:spPr>
          <a:xfrm>
            <a:off x="548792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df.head(n=5)</a:t>
            </a:r>
            <a:br/>
            <a:r>
              <a:t>df.tail(n=5)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ECE2A5-E83B-3546-EAB1-3418BB6EA2E2}"/>
              </a:ext>
            </a:extLst>
          </p:cNvPr>
          <p:cNvSpPr/>
          <p:nvPr/>
        </p:nvSpPr>
        <p:spPr>
          <a:xfrm>
            <a:off x="548792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Quickly inspect the top or bottom N rows of a DataFrame.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n: Number of rows to return from start/end (default 5)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9DBE4C-099A-13B3-BDEE-1B1D675B7E64}"/>
              </a:ext>
            </a:extLst>
          </p:cNvPr>
          <p:cNvSpPr/>
          <p:nvPr/>
        </p:nvSpPr>
        <p:spPr>
          <a:xfrm>
            <a:off x="6035192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pd.DataFrame({'Score': [10, 20, 30, 40, 50, 60]})</a:t>
            </a:r>
            <a:br/>
            <a:r>
              <a:t>print('--- HEAD (2) ---')</a:t>
            </a:r>
            <a:br/>
            <a:r>
              <a:t>print(df.head(2))</a:t>
            </a:r>
            <a:br/>
            <a:r>
              <a:t>print('--- TAIL (2) ---')</a:t>
            </a:r>
            <a:br/>
            <a:r>
              <a:t>print(df.tail(2))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57F435-77E9-1982-52FC-923557C1650E}"/>
              </a:ext>
            </a:extLst>
          </p:cNvPr>
          <p:cNvSpPr/>
          <p:nvPr/>
        </p:nvSpPr>
        <p:spPr>
          <a:xfrm>
            <a:off x="6035192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--- HEAD (2) ---</a:t>
            </a:r>
            <a:br/>
            <a:r>
              <a:t>   Score</a:t>
            </a:r>
            <a:br/>
            <a:r>
              <a:t>0     10</a:t>
            </a:r>
            <a:br/>
            <a:r>
              <a:t>1     20</a:t>
            </a:r>
            <a:br/>
            <a:r>
              <a:t>--- TAIL (2) ---</a:t>
            </a:r>
            <a:br/>
            <a:r>
              <a:t>   Score</a:t>
            </a:r>
            <a:br/>
            <a:r>
              <a:t>4     50</a:t>
            </a:r>
            <a:br/>
            <a:r>
              <a:t>5     60</a:t>
            </a:r>
          </a:p>
        </p:txBody>
      </p:sp>
    </p:spTree>
    <p:extLst>
      <p:ext uri="{BB962C8B-B14F-4D97-AF65-F5344CB8AC3E}">
        <p14:creationId xmlns:p14="http://schemas.microsoft.com/office/powerpoint/2010/main" val="886327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08D2E3-E302-B4EE-0E53-3091E7489D8B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shape &amp; columns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C5CAE37-4949-BDE7-50E3-E376D9D51445}"/>
              </a:ext>
            </a:extLst>
          </p:cNvPr>
          <p:cNvSpPr/>
          <p:nvPr/>
        </p:nvSpPr>
        <p:spPr>
          <a:xfrm>
            <a:off x="548945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df.shape  # Attribute: returns (rows, cols)</a:t>
            </a:r>
            <a:br/>
            <a:r>
              <a:t>df.columns  # Attribute: returns Index of names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553363-BAD9-3713-254B-02DD2421FFC1}"/>
              </a:ext>
            </a:extLst>
          </p:cNvPr>
          <p:cNvSpPr/>
          <p:nvPr/>
        </p:nvSpPr>
        <p:spPr>
          <a:xfrm>
            <a:off x="548945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Inspect DataFrame dimensions and column names without calling functions.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shape: Tuple representing dimensions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columns: Index object containing column titles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2984E8-0509-D85B-504A-64C9C3D460F2}"/>
              </a:ext>
            </a:extLst>
          </p:cNvPr>
          <p:cNvSpPr/>
          <p:nvPr/>
        </p:nvSpPr>
        <p:spPr>
          <a:xfrm>
            <a:off x="6035345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pd.DataFrame({'A': [1, 2], 'B': [3, 4], 'C': [5, 6]})</a:t>
            </a:r>
            <a:br/>
            <a:r>
              <a:t>print('Shape:', df.shape)</a:t>
            </a:r>
            <a:br/>
            <a:r>
              <a:t>print('Columns:', list(df.columns))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72A16D-956C-9E16-E30F-554F255EECAF}"/>
              </a:ext>
            </a:extLst>
          </p:cNvPr>
          <p:cNvSpPr/>
          <p:nvPr/>
        </p:nvSpPr>
        <p:spPr>
          <a:xfrm>
            <a:off x="6035345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Shape: (2, 3)</a:t>
            </a:r>
            <a:br/>
            <a:r>
              <a:t>Columns: ['A', 'B', 'C']</a:t>
            </a:r>
          </a:p>
        </p:txBody>
      </p:sp>
    </p:spTree>
    <p:extLst>
      <p:ext uri="{BB962C8B-B14F-4D97-AF65-F5344CB8AC3E}">
        <p14:creationId xmlns:p14="http://schemas.microsoft.com/office/powerpoint/2010/main" val="1305078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7F29FC-1990-ADA9-3A25-00BAA303ADF0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info()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3F8A04C-DC1D-BDAB-64CE-CA4FABB01B2C}"/>
              </a:ext>
            </a:extLst>
          </p:cNvPr>
          <p:cNvSpPr/>
          <p:nvPr/>
        </p:nvSpPr>
        <p:spPr>
          <a:xfrm>
            <a:off x="548945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df.info(verbose=None, show_counts=None)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8EC17F-E073-6299-B457-45D058B29E48}"/>
              </a:ext>
            </a:extLst>
          </p:cNvPr>
          <p:cNvSpPr/>
          <p:nvPr/>
        </p:nvSpPr>
        <p:spPr>
          <a:xfrm>
            <a:off x="548945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Prints a concise summary of DataFrame including index, dtypes, non-null counts, and memory usage.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verbose: Whether to print full summary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show_counts: Whether to show non-null counts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378335-249C-EB8C-F210-FDB71588366F}"/>
              </a:ext>
            </a:extLst>
          </p:cNvPr>
          <p:cNvSpPr/>
          <p:nvPr/>
        </p:nvSpPr>
        <p:spPr>
          <a:xfrm>
            <a:off x="6035345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pd.DataFrame({'Name': ['Alice', None], 'Age': [25, 30]})</a:t>
            </a:r>
            <a:br/>
            <a:r>
              <a:t>df.info()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0A372C-5A2C-2F4D-AE64-1D8D148EFC28}"/>
              </a:ext>
            </a:extLst>
          </p:cNvPr>
          <p:cNvSpPr/>
          <p:nvPr/>
        </p:nvSpPr>
        <p:spPr>
          <a:xfrm>
            <a:off x="6035345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&lt;class 'pandas.core.frame.DataFrame'&gt;</a:t>
            </a:r>
            <a:br/>
            <a:r>
              <a:t>RangeIndex: 2 entries, 0 to 1</a:t>
            </a:r>
            <a:br/>
            <a:r>
              <a:t>Data columns (total 2 columns):</a:t>
            </a:r>
            <a:br/>
            <a:r>
              <a:t> #   Column  Non-Null Count  Dtype </a:t>
            </a:r>
            <a:br/>
            <a:r>
              <a:t>---  ------  --------------  ----- </a:t>
            </a:r>
            <a:br/>
            <a:r>
              <a:t> 0   Name    1 non-null      object</a:t>
            </a:r>
            <a:br/>
            <a:r>
              <a:t> 1   Age     2 non-null      int64 </a:t>
            </a:r>
            <a:br/>
            <a:r>
              <a:t>dtypes: int64(1), object(1)</a:t>
            </a:r>
            <a:br/>
            <a:r>
              <a:t>memory usage: 160.0+ bytes</a:t>
            </a:r>
          </a:p>
        </p:txBody>
      </p:sp>
    </p:spTree>
    <p:extLst>
      <p:ext uri="{BB962C8B-B14F-4D97-AF65-F5344CB8AC3E}">
        <p14:creationId xmlns:p14="http://schemas.microsoft.com/office/powerpoint/2010/main" val="2516132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50C088-C532-0F2A-1E2F-EC6E1A380DE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describe()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BDD8EC-A15B-3377-1B78-127E7915E02B}"/>
              </a:ext>
            </a:extLst>
          </p:cNvPr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df.describe</a:t>
            </a:r>
            <a:r>
              <a:rPr dirty="0"/>
              <a:t>(percentiles=None, include=None)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C1F235-2F07-0D76-539F-BA549B1AF552}"/>
              </a:ext>
            </a:extLst>
          </p:cNvPr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Generates descriptive statistics summarizing central tendency, dispersion, and shape.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include: 'all', np.number, or 'object' to select column types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percentiles: List of numbers between 0 and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E3B6DB-1E42-FDE7-940C-BF569D5544A7}"/>
              </a:ext>
            </a:extLst>
          </p:cNvPr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pd.DataFrame({'Salary': [50000, 60000, 75000, 120000]})</a:t>
            </a:r>
            <a:br/>
            <a:r>
              <a:t>print(df.describe().round(1))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82F1FB-698B-C430-93D0-934875776012}"/>
              </a:ext>
            </a:extLst>
          </p:cNvPr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       Salary</a:t>
            </a:r>
            <a:br/>
            <a:r>
              <a:t>count        4.0</a:t>
            </a:r>
            <a:br/>
            <a:r>
              <a:t>mean     76250.0</a:t>
            </a:r>
            <a:br/>
            <a:r>
              <a:t>std      30923.3</a:t>
            </a:r>
            <a:br/>
            <a:r>
              <a:t>min      50000.0</a:t>
            </a:r>
            <a:br/>
            <a:r>
              <a:t>50%      67500.0</a:t>
            </a:r>
            <a:br/>
            <a:r>
              <a:t>max     120000.0</a:t>
            </a:r>
          </a:p>
        </p:txBody>
      </p:sp>
    </p:spTree>
    <p:extLst>
      <p:ext uri="{BB962C8B-B14F-4D97-AF65-F5344CB8AC3E}">
        <p14:creationId xmlns:p14="http://schemas.microsoft.com/office/powerpoint/2010/main" val="764270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info() &amp; describe() – </a:t>
            </a:r>
            <a:r>
              <a:rPr lang="en-US" dirty="0"/>
              <a:t>Examples</a:t>
            </a:r>
            <a:endParaRPr dirty="0"/>
          </a:p>
        </p:txBody>
      </p:sp>
      <p:sp>
        <p:nvSpPr>
          <p:cNvPr id="3" name="Parameters Card"/>
          <p:cNvSpPr/>
          <p:nvPr/>
        </p:nvSpPr>
        <p:spPr>
          <a:xfrm>
            <a:off x="548945" y="1188720"/>
            <a:ext cx="5303520" cy="272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l"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2980B9"/>
                </a:solidFill>
                <a:latin typeface="Courier New"/>
                <a:cs typeface="Courier New"/>
              </a:rPr>
              <a:t>df.info(verbose, show_counts)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0" dirty="0">
                <a:solidFill>
                  <a:srgbClr val="2C3E50"/>
                </a:solidFill>
              </a:rPr>
              <a:t>Prints memory usage, dtypes, and non-null counts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verbose, show_counts</a:t>
            </a:r>
            <a:r>
              <a:rPr lang="en-US" sz="1200" b="0" dirty="0">
                <a:solidFill>
                  <a:srgbClr val="2C3E50"/>
                </a:solidFill>
              </a:rPr>
              <a:t> – True or False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2980B9"/>
                </a:solidFill>
                <a:latin typeface="Courier New"/>
                <a:cs typeface="Courier New"/>
              </a:rPr>
              <a:t>df.describe(percentiles, include)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0" dirty="0">
                <a:solidFill>
                  <a:srgbClr val="2C3E50"/>
                </a:solidFill>
              </a:rPr>
              <a:t>Generates summary statistics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include</a:t>
            </a:r>
            <a:r>
              <a:rPr lang="en-US" sz="1200" b="0" dirty="0">
                <a:solidFill>
                  <a:srgbClr val="2C3E50"/>
                </a:solidFill>
              </a:rPr>
              <a:t> – 'all', np.number, or 'object'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percentiles</a:t>
            </a:r>
            <a:r>
              <a:rPr lang="en-US" sz="1200" b="0" dirty="0">
                <a:solidFill>
                  <a:srgbClr val="2C3E50"/>
                </a:solidFill>
              </a:rPr>
              <a:t> – List of float probabilities, e.g. [0.25, 0.5, 0.75]</a:t>
            </a:r>
          </a:p>
        </p:txBody>
      </p:sp>
      <p:sp>
        <p:nvSpPr>
          <p:cNvPr id="4" name="Code Card"/>
          <p:cNvSpPr/>
          <p:nvPr/>
        </p:nvSpPr>
        <p:spPr>
          <a:xfrm>
            <a:off x="6035345" y="1188720"/>
            <a:ext cx="5608015" cy="27206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 = pd.DataFrame({'Salary': [50000, 60000,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        75000, 120000]})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info()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df.info(show_counts=True)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describe()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print(df.describe(include='all'))</a:t>
            </a:r>
          </a:p>
        </p:txBody>
      </p:sp>
      <p:sp>
        <p:nvSpPr>
          <p:cNvPr id="11" name="Output Card"/>
          <p:cNvSpPr/>
          <p:nvPr/>
        </p:nvSpPr>
        <p:spPr>
          <a:xfrm>
            <a:off x="548945" y="4037416"/>
            <a:ext cx="5492343" cy="2501224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info()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&lt;class 'pandas.core.frame.DataFrame'&gt;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RangeIndex: 4 entries, 0 to 3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Data columns (total 1 columns):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#   Column  Non-Null Count  Dtype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---  ------  --------------  -----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0   Salary  4 non-null      int64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dtypes: int64(1)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memory usage: 164.0 bytes</a:t>
            </a:r>
          </a:p>
        </p:txBody>
      </p:sp>
      <p:sp>
        <p:nvSpPr>
          <p:cNvPr id="12" name="Output Card"/>
          <p:cNvSpPr/>
          <p:nvPr/>
        </p:nvSpPr>
        <p:spPr>
          <a:xfrm>
            <a:off x="6151016" y="4037416"/>
            <a:ext cx="5492343" cy="2501224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describe()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          Salary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count       4.000000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mean    76250.000000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std     30923.292192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min     50000.000000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25%     57500.000000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50%     67500.000000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75%     86250.000000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max    120000.000000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61A6-0F5C-F636-4C5A-86586AF6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596E7C-AE8C-ED6E-1D16-6A638F5F0D5F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 Data Preparation Lifecycle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C24F2C-1ABF-7099-A879-16FB63EC59B4}"/>
              </a:ext>
            </a:extLst>
          </p:cNvPr>
          <p:cNvSpPr/>
          <p:nvPr/>
        </p:nvSpPr>
        <p:spPr>
          <a:xfrm>
            <a:off x="548640" y="1280160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1. Inspect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Examine data types, shapes, missing counts, and summary statistics.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B74A9E-D72D-EDD5-1338-8DB704976E89}"/>
              </a:ext>
            </a:extLst>
          </p:cNvPr>
          <p:cNvSpPr/>
          <p:nvPr/>
        </p:nvSpPr>
        <p:spPr>
          <a:xfrm>
            <a:off x="548640" y="2304287"/>
            <a:ext cx="11094415" cy="886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2. Clean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Convert types, handle missing values, strip whitespace, and drop duplicates.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0C181A-6513-2179-FA8A-10E6E29DEA47}"/>
              </a:ext>
            </a:extLst>
          </p:cNvPr>
          <p:cNvSpPr/>
          <p:nvPr/>
        </p:nvSpPr>
        <p:spPr>
          <a:xfrm>
            <a:off x="548792" y="3328415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3. Validate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Verify domain constraints (e.g., Age between 0 and 120, positive prices).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B8D13B-29EB-A4EB-A434-B19E4037151C}"/>
              </a:ext>
            </a:extLst>
          </p:cNvPr>
          <p:cNvSpPr/>
          <p:nvPr/>
        </p:nvSpPr>
        <p:spPr>
          <a:xfrm>
            <a:off x="548640" y="4352544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4. Analyze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Filter, group, aggregate, and visualize clean datasets.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E1721A-7C65-85E7-6841-E6D4BDC5C65C}"/>
              </a:ext>
            </a:extLst>
          </p:cNvPr>
          <p:cNvSpPr/>
          <p:nvPr/>
        </p:nvSpPr>
        <p:spPr>
          <a:xfrm>
            <a:off x="548640" y="5376671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5. Export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Save cleaned datasets and final summary tables for business reporting.</a:t>
            </a:r>
          </a:p>
        </p:txBody>
      </p:sp>
    </p:spTree>
    <p:extLst>
      <p:ext uri="{BB962C8B-B14F-4D97-AF65-F5344CB8AC3E}">
        <p14:creationId xmlns:p14="http://schemas.microsoft.com/office/powerpoint/2010/main" val="83866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3CAA2C01-7BCF-718D-660C-35A5675B581D}"/>
              </a:ext>
            </a:extLst>
          </p:cNvPr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lang="en-IN" sz="4000" b="1" dirty="0">
                <a:solidFill>
                  <a:srgbClr val="FFFFFF"/>
                </a:solidFill>
              </a:rPr>
              <a:t>Data cleaning and filtering 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lang="en-IN" sz="2800" b="1" dirty="0">
                <a:solidFill>
                  <a:srgbClr val="FFFFFF"/>
                </a:solidFill>
              </a:rPr>
              <a:t>Missing values, duplicates, data-type issues, conditional selection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9899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E2732"/>
                </a:solidFill>
                <a:latin typeface="Aptos"/>
              </a:rPr>
              <a:t>Why cleaning comes before analysis</a:t>
            </a:r>
            <a:r>
              <a:rPr lang="en-IN" sz="2700" b="1" dirty="0">
                <a:solidFill>
                  <a:srgbClr val="1E2732"/>
                </a:solidFill>
                <a:latin typeface="Aptos"/>
              </a:rPr>
              <a:t>?</a:t>
            </a:r>
            <a:endParaRPr sz="2700" b="1" dirty="0">
              <a:solidFill>
                <a:srgbClr val="1E273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A computer can calculate perfectly on bad data—so the first job is making sure the data means what you think it means.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1016" y="1874519"/>
            <a:ext cx="4156390" cy="3090771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6951" y="2093975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Imagine a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8819" y="2788919"/>
            <a:ext cx="3074793" cy="1509131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One person types 'Delhi', another types '</a:t>
            </a:r>
            <a:r>
              <a:rPr dirty="0" err="1"/>
              <a:t>delhi</a:t>
            </a:r>
            <a:r>
              <a:rPr dirty="0"/>
              <a:t>'.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One row has Age = 25; another has Age = 250.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The computer does not automatically know which value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7225" y="1828800"/>
            <a:ext cx="4156390" cy="313649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49056" y="2093975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64769"/>
                </a:solidFill>
                <a:latin typeface="Aptos"/>
              </a:rPr>
              <a:t>GIGO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1240" y="2789849"/>
            <a:ext cx="3133736" cy="12936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Garbage In, Garbage Out.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If inputs are incorrect, summaries and models can also be misleading.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Cleaning is about improving data quality before drawing conclusions.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5777D-68C3-36CB-77F8-9383EA544E68}"/>
              </a:ext>
            </a:extLst>
          </p:cNvPr>
          <p:cNvSpPr txBox="1"/>
          <p:nvPr/>
        </p:nvSpPr>
        <p:spPr>
          <a:xfrm>
            <a:off x="1553497" y="5565058"/>
            <a:ext cx="7148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bad data : 250 in age, 25/25/2025 in date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IN" dirty="0"/>
              <a:t>Reali</a:t>
            </a:r>
            <a:r>
              <a:rPr dirty="0"/>
              <a:t>ties of Raw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The 80/20 Rule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Data scientists spend up to 80% of their time finding, cleaning, and organizing data, and only 20% analyzing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8704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Garbage In, Garbage Out (GIGO)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Algorithms and statistical models trained on dirty data produce invalid conclusions.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9392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Common Defects in Raw Data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Missing entries, human typos, mixed date formats, impossible outliers, and duplicated records.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 algn="ctr">
              <a:defRPr sz="1600" b="1">
                <a:solidFill>
                  <a:srgbClr val="EBF5FB"/>
                </a:solidFill>
              </a:defRPr>
            </a:pPr>
            <a:endParaRPr lang="en-IN" dirty="0"/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lang="en-IN" dirty="0"/>
              <a:t>Missing Data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Understanding </a:t>
            </a:r>
            <a:r>
              <a:rPr dirty="0" err="1"/>
              <a:t>NaN</a:t>
            </a:r>
            <a:r>
              <a:rPr dirty="0"/>
              <a:t>, Detection Strategies &amp; Remediation Techniques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0D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Understanding NaN (Not a Number)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Missing data: decide what an empty value means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70432"/>
            <a:ext cx="11640312" cy="822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1952" y="1329911"/>
            <a:ext cx="9390888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dirty="0">
                <a:solidFill>
                  <a:srgbClr val="233041"/>
                </a:solidFill>
                <a:latin typeface="Aptos"/>
              </a:rPr>
              <a:t>A missing value is information too: before filling or deleting it, ask why it is missing and whether it can be recovered.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12848"/>
            <a:ext cx="356616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" y="2450592"/>
            <a:ext cx="621792" cy="621792"/>
          </a:xfrm>
          <a:prstGeom prst="ellipse">
            <a:avLst/>
          </a:prstGeom>
          <a:solidFill>
            <a:srgbClr val="2666AA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468880"/>
            <a:ext cx="6217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4414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3760"/>
                </a:solidFill>
                <a:latin typeface="Aptos"/>
              </a:rPr>
              <a:t>What is NaN?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36392"/>
            <a:ext cx="2788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33041"/>
                </a:solidFill>
                <a:latin typeface="Aptos"/>
              </a:rPr>
              <a:t>IEEE floating-point standard representation for missing or null values in numerical columns.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2212848"/>
            <a:ext cx="356616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1416" y="2450592"/>
            <a:ext cx="621792" cy="621792"/>
          </a:xfrm>
          <a:prstGeom prst="ellipse">
            <a:avLst/>
          </a:prstGeom>
          <a:solidFill>
            <a:srgbClr val="2B895C"/>
          </a:solidFill>
          <a:ln>
            <a:solidFill>
              <a:srgbClr val="2B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71416" y="2468880"/>
            <a:ext cx="6217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4414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3760"/>
                </a:solidFill>
                <a:latin typeface="Aptos"/>
              </a:rPr>
              <a:t>Why NaN == NaN fails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3136392"/>
            <a:ext cx="2788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33041"/>
                </a:solidFill>
                <a:latin typeface="Aptos"/>
              </a:rPr>
              <a:t>In Python/NumPy, NaN is defined as not equal to anything, including itself (np.nan == np.nan is False).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0416" y="2212848"/>
            <a:ext cx="356616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84464" y="2450592"/>
            <a:ext cx="621792" cy="621792"/>
          </a:xfrm>
          <a:prstGeom prst="ellipse">
            <a:avLst/>
          </a:prstGeom>
          <a:solidFill>
            <a:srgbClr val="5B3FA6"/>
          </a:solidFill>
          <a:ln>
            <a:solidFill>
              <a:srgbClr val="5B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4464" y="2468880"/>
            <a:ext cx="6217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4414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3760"/>
                </a:solidFill>
                <a:latin typeface="Aptos"/>
              </a:rPr>
              <a:t>How to check for NaN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136392"/>
            <a:ext cx="2788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33041"/>
                </a:solidFill>
                <a:latin typeface="Aptos"/>
              </a:rPr>
              <a:t>Always use .isna() or .isnull() functions rather than equality operators.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isna</a:t>
            </a:r>
            <a:r>
              <a:rPr dirty="0"/>
              <a:t>() / </a:t>
            </a:r>
            <a:r>
              <a:rPr dirty="0" err="1"/>
              <a:t>notna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df.isna()  # Returns boolean mask of same shape</a:t>
            </a:r>
            <a:br/>
            <a:r>
              <a:t>df.isna().sum()  # Counts missing per column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Detect null values across DataFrames and count missing entries per column.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axis: 0 for columns, 1 for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r>
              <a:rPr dirty="0"/>
              <a:t>import </a:t>
            </a:r>
            <a:r>
              <a:rPr dirty="0" err="1"/>
              <a:t>numpy</a:t>
            </a:r>
            <a:r>
              <a:rPr dirty="0"/>
              <a:t> as np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pd.DataFrame</a:t>
            </a:r>
            <a:r>
              <a:rPr dirty="0"/>
              <a:t>({'A': [1, </a:t>
            </a:r>
            <a:r>
              <a:rPr dirty="0" err="1"/>
              <a:t>np.nan</a:t>
            </a:r>
            <a:r>
              <a:rPr dirty="0"/>
              <a:t>, 3], 'B': [</a:t>
            </a:r>
            <a:r>
              <a:rPr dirty="0" err="1"/>
              <a:t>np.nan</a:t>
            </a:r>
            <a:r>
              <a:rPr dirty="0"/>
              <a:t>, </a:t>
            </a:r>
            <a:r>
              <a:rPr dirty="0" err="1"/>
              <a:t>np.nan</a:t>
            </a:r>
            <a:r>
              <a:rPr dirty="0"/>
              <a:t>, 6]})</a:t>
            </a:r>
            <a:endParaRPr lang="en-IN" dirty="0"/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lang="en-IN" dirty="0"/>
              <a:t>Print(</a:t>
            </a:r>
            <a:r>
              <a:rPr lang="en-IN" dirty="0" err="1"/>
              <a:t>df.isna</a:t>
            </a:r>
            <a:r>
              <a:rPr lang="en-IN" dirty="0"/>
              <a:t>())</a:t>
            </a:r>
            <a:br>
              <a:rPr dirty="0"/>
            </a:br>
            <a:r>
              <a:rPr dirty="0"/>
              <a:t>print(</a:t>
            </a:r>
            <a:r>
              <a:rPr dirty="0" err="1"/>
              <a:t>df.isna</a:t>
            </a:r>
            <a:r>
              <a:rPr dirty="0"/>
              <a:t>().sum())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rPr dirty="0"/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lang="en-IN" dirty="0"/>
              <a:t>  A      B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lang="en-IN" dirty="0"/>
              <a:t>False    True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lang="en-IN" dirty="0"/>
              <a:t>True     </a:t>
            </a:r>
            <a:r>
              <a:rPr lang="en-IN" dirty="0" err="1"/>
              <a:t>True</a:t>
            </a:r>
            <a:endParaRPr lang="en-IN" dirty="0"/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lang="en-IN" dirty="0"/>
              <a:t>False    </a:t>
            </a:r>
            <a:r>
              <a:rPr lang="en-IN" dirty="0" err="1"/>
              <a:t>False</a:t>
            </a:r>
            <a:endParaRPr lang="en-IN" dirty="0"/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endParaRPr lang="en-IN" dirty="0"/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dirty="0"/>
              <a:t>A    1</a:t>
            </a:r>
            <a:br>
              <a:rPr dirty="0"/>
            </a:br>
            <a:r>
              <a:rPr dirty="0"/>
              <a:t>B    2</a:t>
            </a:r>
            <a:br>
              <a:rPr dirty="0"/>
            </a:br>
            <a:r>
              <a:rPr dirty="0" err="1"/>
              <a:t>dtype</a:t>
            </a:r>
            <a:r>
              <a:rPr dirty="0"/>
              <a:t>: int64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dropna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df.dropna(axis=0, how='any', thresh=None, subset=None)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Remove rows or columns containing missing values.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axis: 0 or 'index' to drop rows; 1 or 'columns' to drop cols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how: 'any' (drop if any NaN) or 'all' (drop if all NaN)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subset: List of columns to consider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r>
              <a:t>import numpy as np</a:t>
            </a:r>
            <a:br/>
            <a:br/>
            <a:r>
              <a:t>df = pd.DataFrame({'A': [1, np.nan, 3], 'B': [4, 5, np.nan]})</a:t>
            </a:r>
            <a:br/>
            <a:r>
              <a:t># Drop rows where 'A' is missing</a:t>
            </a:r>
            <a:br/>
            <a:r>
              <a:t>clean_df = df.dropna(subset=['A'])</a:t>
            </a:r>
            <a:br/>
            <a:r>
              <a:t>print(clean_df)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  A    B</a:t>
            </a:r>
            <a:br/>
            <a:r>
              <a:t>0  1.0  4.0</a:t>
            </a:r>
            <a:br/>
            <a:r>
              <a:t>2  3.0  NaN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 err="1">
                <a:solidFill>
                  <a:srgbClr val="FFFFFF"/>
                </a:solidFill>
              </a:rPr>
              <a:t>isna</a:t>
            </a:r>
            <a:r>
              <a:rPr lang="en-US" sz="2200" b="1" dirty="0">
                <a:solidFill>
                  <a:srgbClr val="FFFFFF"/>
                </a:solidFill>
              </a:rPr>
              <a:t>() &amp; dropna() – Examples</a:t>
            </a:r>
          </a:p>
        </p:txBody>
      </p:sp>
      <p:sp>
        <p:nvSpPr>
          <p:cNvPr id="3" name="Parameters Card"/>
          <p:cNvSpPr/>
          <p:nvPr/>
        </p:nvSpPr>
        <p:spPr>
          <a:xfrm>
            <a:off x="548945" y="1188720"/>
            <a:ext cx="5303520" cy="3456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l">
              <a:spcBef>
                <a:spcPts val="900"/>
              </a:spcBef>
              <a:buNone/>
            </a:pPr>
            <a:r>
              <a:rPr lang="en-US" sz="1300" b="1" dirty="0" err="1">
                <a:solidFill>
                  <a:srgbClr val="2980B9"/>
                </a:solidFill>
                <a:latin typeface="Courier New"/>
                <a:cs typeface="Courier New"/>
              </a:rPr>
              <a:t>df.isna</a:t>
            </a:r>
            <a:r>
              <a:rPr lang="en-US" sz="1300" b="1" dirty="0">
                <a:solidFill>
                  <a:srgbClr val="2980B9"/>
                </a:solidFill>
                <a:latin typeface="Courier New"/>
                <a:cs typeface="Courier New"/>
              </a:rPr>
              <a:t>() / df.notna()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axis</a:t>
            </a:r>
            <a:r>
              <a:rPr lang="en-US" sz="1200" b="0" dirty="0">
                <a:solidFill>
                  <a:srgbClr val="2C3E50"/>
                </a:solidFill>
              </a:rPr>
              <a:t> – 0 (columns) or 1 (rows)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2980B9"/>
                </a:solidFill>
                <a:latin typeface="Courier New"/>
                <a:cs typeface="Courier New"/>
              </a:rPr>
              <a:t>df.dropna(axis, how, thresh, subset)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axis</a:t>
            </a:r>
            <a:r>
              <a:rPr lang="en-US" sz="1200" b="0" dirty="0">
                <a:solidFill>
                  <a:srgbClr val="2C3E50"/>
                </a:solidFill>
              </a:rPr>
              <a:t> – 0 or 'index' (drop rows); 1 or 'columns' (drop columns)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how</a:t>
            </a:r>
            <a:r>
              <a:rPr lang="en-US" sz="1200" b="0" dirty="0">
                <a:solidFill>
                  <a:srgbClr val="2C3E50"/>
                </a:solidFill>
              </a:rPr>
              <a:t> – 'any' (drop if any NaN is present) or 'all' (drop only if all elements are NaN)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subset</a:t>
            </a:r>
            <a:r>
              <a:rPr lang="en-US" sz="1200" b="0" dirty="0">
                <a:solidFill>
                  <a:srgbClr val="2C3E50"/>
                </a:solidFill>
              </a:rPr>
              <a:t> – List of column labels to restrict the missing-value check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thresh</a:t>
            </a:r>
            <a:r>
              <a:rPr lang="en-US" sz="1200" b="0" dirty="0">
                <a:solidFill>
                  <a:srgbClr val="2C3E50"/>
                </a:solidFill>
              </a:rPr>
              <a:t> – Integer minimum count of non-null values required to keep</a:t>
            </a:r>
          </a:p>
        </p:txBody>
      </p:sp>
      <p:sp>
        <p:nvSpPr>
          <p:cNvPr id="4" name="Code Card"/>
          <p:cNvSpPr/>
          <p:nvPr/>
        </p:nvSpPr>
        <p:spPr>
          <a:xfrm>
            <a:off x="6035345" y="1188720"/>
            <a:ext cx="5608015" cy="34567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numpy as np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 = pd.DataFrame({'A': [1, np.nan, 3],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'B': [4, 5, np.nan],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'C': [np.nan] * 3})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Missing count per column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print(df.isna().sum(axis=0))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Drop rows where 'A' is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print(df.dropna(subset=['A'], how='any'))</a:t>
            </a:r>
          </a:p>
          <a:p>
            <a:pPr>
              <a:spcBef>
                <a:spcPts val="0"/>
              </a:spcBef>
              <a:buNone/>
            </a:pPr>
            <a:endParaRPr lang="en-US" sz="110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Drop columns if all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print(df.dropna(axis=1, how='all'))</a:t>
            </a:r>
          </a:p>
        </p:txBody>
      </p:sp>
      <p:sp>
        <p:nvSpPr>
          <p:cNvPr id="11" name="Output Card"/>
          <p:cNvSpPr/>
          <p:nvPr/>
        </p:nvSpPr>
        <p:spPr>
          <a:xfrm>
            <a:off x="548945" y="4773508"/>
            <a:ext cx="3624986" cy="1765132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Missing count per column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A    1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B    1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C    3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dtype: int64</a:t>
            </a:r>
          </a:p>
        </p:txBody>
      </p:sp>
      <p:sp>
        <p:nvSpPr>
          <p:cNvPr id="12" name="Output Card"/>
          <p:cNvSpPr/>
          <p:nvPr/>
        </p:nvSpPr>
        <p:spPr>
          <a:xfrm>
            <a:off x="4283659" y="4773508"/>
            <a:ext cx="3624986" cy="1765132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Drop rows where 'A' is NaN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 A    B   C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1.0  4.0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3.0  NaN NaN</a:t>
            </a:r>
          </a:p>
        </p:txBody>
      </p:sp>
      <p:sp>
        <p:nvSpPr>
          <p:cNvPr id="13" name="Output Card"/>
          <p:cNvSpPr/>
          <p:nvPr/>
        </p:nvSpPr>
        <p:spPr>
          <a:xfrm>
            <a:off x="8018373" y="4773508"/>
            <a:ext cx="3624986" cy="1765132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Drop columns if all NaN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 A    B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0  1.0  4.0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NaN  5.0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3.0  NaN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fillna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df.fillna(value=None, method=None, axis=None)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Impute missing values with constants, mean/median stats, or forward/backward fills.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value: Scalar, dict, or Series to fill missing slots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method: 'ffill' (forward fill) or 'bfill' (backward fill)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r>
              <a:t>import numpy as np</a:t>
            </a:r>
            <a:br/>
            <a:br/>
            <a:r>
              <a:t>s = pd.Series([10, np.nan, 30])</a:t>
            </a:r>
            <a:br/>
            <a:r>
              <a:t># Fill missing with median</a:t>
            </a:r>
            <a:br/>
            <a:r>
              <a:t>clean_s = s.fillna(s.median())</a:t>
            </a:r>
            <a:br/>
            <a:r>
              <a:t>print(clean_s)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0    10.0</a:t>
            </a:r>
            <a:br/>
            <a:r>
              <a:t>1    20.0</a:t>
            </a:r>
            <a:br/>
            <a:r>
              <a:t>2    30.0</a:t>
            </a:r>
            <a:br/>
            <a:r>
              <a:t>dtype: float64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 err="1"/>
              <a:t>fillna</a:t>
            </a:r>
            <a:r>
              <a:rPr dirty="0"/>
              <a:t>() – </a:t>
            </a:r>
            <a:r>
              <a:rPr lang="en-US" dirty="0"/>
              <a:t>Examples</a:t>
            </a:r>
            <a:endParaRPr dirty="0"/>
          </a:p>
        </p:txBody>
      </p:sp>
      <p:sp>
        <p:nvSpPr>
          <p:cNvPr id="3" name="Parameters Card"/>
          <p:cNvSpPr/>
          <p:nvPr/>
        </p:nvSpPr>
        <p:spPr>
          <a:xfrm>
            <a:off x="548945" y="1188720"/>
            <a:ext cx="5303520" cy="3456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l">
              <a:spcBef>
                <a:spcPts val="900"/>
              </a:spcBef>
              <a:buNone/>
            </a:pPr>
            <a:r>
              <a:rPr lang="en-US" sz="1300" b="1" dirty="0" err="1">
                <a:solidFill>
                  <a:srgbClr val="2980B9"/>
                </a:solidFill>
                <a:latin typeface="Courier New"/>
                <a:cs typeface="Courier New"/>
              </a:rPr>
              <a:t>df.fillna</a:t>
            </a:r>
            <a:r>
              <a:rPr lang="en-US" sz="1300" b="1" dirty="0">
                <a:solidFill>
                  <a:srgbClr val="2980B9"/>
                </a:solidFill>
                <a:latin typeface="Courier New"/>
                <a:cs typeface="Courier New"/>
              </a:rPr>
              <a:t>(value, method, axis)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value</a:t>
            </a:r>
            <a:r>
              <a:rPr lang="en-US" sz="1200" b="0" dirty="0">
                <a:solidFill>
                  <a:srgbClr val="2C3E50"/>
                </a:solidFill>
              </a:rPr>
              <a:t> – Scalar constant, dictionary mapping columns to values, or a Series statistic (e.g., s.median())</a:t>
            </a:r>
          </a:p>
          <a:p>
            <a:pPr marL="22860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ourier New"/>
                <a:cs typeface="Courier New"/>
              </a:rPr>
              <a:t>method</a:t>
            </a:r>
            <a:r>
              <a:rPr lang="en-US" sz="1200" b="0" dirty="0">
                <a:solidFill>
                  <a:srgbClr val="2C3E50"/>
                </a:solidFill>
              </a:rPr>
              <a:t> – 'ffill' (forward fill) or 'bfill' (backward fill)</a:t>
            </a:r>
          </a:p>
        </p:txBody>
      </p:sp>
      <p:sp>
        <p:nvSpPr>
          <p:cNvPr id="4" name="Code Card"/>
          <p:cNvSpPr/>
          <p:nvPr/>
        </p:nvSpPr>
        <p:spPr>
          <a:xfrm>
            <a:off x="6035345" y="1188720"/>
            <a:ext cx="5608015" cy="34567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numpy as np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 = pd.DataFrame({'A': [1, np.nan, 3],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'B': [4, 5, np.nan]})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s = df['A']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Forward fill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print(df.fillna(method='ffill'))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Backward fill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print(df.fillna(method='bfill'))</a:t>
            </a:r>
          </a:p>
        </p:txBody>
      </p:sp>
      <p:sp>
        <p:nvSpPr>
          <p:cNvPr id="12" name="Output Card"/>
          <p:cNvSpPr/>
          <p:nvPr/>
        </p:nvSpPr>
        <p:spPr>
          <a:xfrm>
            <a:off x="4283659" y="4773508"/>
            <a:ext cx="3624986" cy="1765132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Forward fill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 A    B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0  1.0  4.0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1  1.0  5.0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2  3.0  5.0</a:t>
            </a:r>
          </a:p>
        </p:txBody>
      </p:sp>
      <p:sp>
        <p:nvSpPr>
          <p:cNvPr id="13" name="Output Card"/>
          <p:cNvSpPr/>
          <p:nvPr/>
        </p:nvSpPr>
        <p:spPr>
          <a:xfrm>
            <a:off x="8018373" y="4773508"/>
            <a:ext cx="3624986" cy="1765132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Backward fill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 A    B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0  1.0  4.0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1  3.0  5.0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3.0  NaN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4E29-9F81-85C3-5927-D50DF0F5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28AB44-A99C-52F6-C088-CF834BD7F76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 Data Preparation Lifecycle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CD2668-15CE-2D46-0108-2005EC84C6C6}"/>
              </a:ext>
            </a:extLst>
          </p:cNvPr>
          <p:cNvSpPr/>
          <p:nvPr/>
        </p:nvSpPr>
        <p:spPr>
          <a:xfrm>
            <a:off x="548640" y="1280160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1. Inspect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Examine data types, shapes, missing counts, and summary statistics.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4D290E-8FA4-9C98-BB1C-7587EE01B163}"/>
              </a:ext>
            </a:extLst>
          </p:cNvPr>
          <p:cNvSpPr/>
          <p:nvPr/>
        </p:nvSpPr>
        <p:spPr>
          <a:xfrm>
            <a:off x="548640" y="2304287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2. Clean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Convert types, handle missing values, strip whitespace, and drop duplicates.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7C1A9F-4E8C-150F-C604-74DC75582064}"/>
              </a:ext>
            </a:extLst>
          </p:cNvPr>
          <p:cNvSpPr/>
          <p:nvPr/>
        </p:nvSpPr>
        <p:spPr>
          <a:xfrm>
            <a:off x="548792" y="3328415"/>
            <a:ext cx="11094415" cy="886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3. Validate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Verify domain constraints (e.g., Age between 0 and 120, positive prices).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009565-62E0-1BA2-D41E-A1D1A363018F}"/>
              </a:ext>
            </a:extLst>
          </p:cNvPr>
          <p:cNvSpPr/>
          <p:nvPr/>
        </p:nvSpPr>
        <p:spPr>
          <a:xfrm>
            <a:off x="548640" y="4352544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4. Analyze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Filter, group, aggregate, and visualize clean datasets.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CE8366-77D5-1210-2F27-A30D545FAE2B}"/>
              </a:ext>
            </a:extLst>
          </p:cNvPr>
          <p:cNvSpPr/>
          <p:nvPr/>
        </p:nvSpPr>
        <p:spPr>
          <a:xfrm>
            <a:off x="548640" y="5376671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5. Export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Save cleaned datasets and final summary tables for business reporting.</a:t>
            </a:r>
          </a:p>
        </p:txBody>
      </p:sp>
    </p:spTree>
    <p:extLst>
      <p:ext uri="{BB962C8B-B14F-4D97-AF65-F5344CB8AC3E}">
        <p14:creationId xmlns:p14="http://schemas.microsoft.com/office/powerpoint/2010/main" val="15012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 algn="ctr">
              <a:defRPr sz="1600" b="1">
                <a:solidFill>
                  <a:srgbClr val="EBF5FB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Duplicates and Outliers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Detecting &amp; Resolving Duplicate Records and Bounding Anomaly Values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732"/>
                </a:solidFill>
                <a:latin typeface="Aptos"/>
              </a:rPr>
              <a:t>Duplicates and outliers: find records that need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Not every unusual value is an error. Cleaning means identifying suspicious records and deciding what the data rules allow.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6AC5D5-76F9-D691-E322-A7E0156ED162}"/>
              </a:ext>
            </a:extLst>
          </p:cNvPr>
          <p:cNvGrpSpPr/>
          <p:nvPr/>
        </p:nvGrpSpPr>
        <p:grpSpPr>
          <a:xfrm>
            <a:off x="594360" y="1874519"/>
            <a:ext cx="3418840" cy="4160520"/>
            <a:chOff x="594360" y="1874519"/>
            <a:chExt cx="2788920" cy="4160520"/>
          </a:xfrm>
        </p:grpSpPr>
        <p:sp>
          <p:nvSpPr>
            <p:cNvPr id="7" name="Rounded Rectangle 6"/>
            <p:cNvSpPr/>
            <p:nvPr/>
          </p:nvSpPr>
          <p:spPr>
            <a:xfrm>
              <a:off x="594360" y="1874519"/>
              <a:ext cx="2788920" cy="416052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AE0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2039112"/>
              <a:ext cx="2386584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264769"/>
                  </a:solidFill>
                  <a:latin typeface="Aptos"/>
                </a:rPr>
                <a:t>Duplicates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5528" y="2468879"/>
              <a:ext cx="2386584" cy="3447287"/>
            </a:xfrm>
            <a:prstGeom prst="rect">
              <a:avLst/>
            </a:prstGeom>
            <a:noFill/>
          </p:spPr>
          <p:txBody>
            <a:bodyPr wrap="square" lIns="45720" tIns="18288" rIns="27432" bIns="18288">
              <a:spAutoFit/>
            </a:bodyPr>
            <a:lstStyle/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The same transaction or record may appear more than once.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duplicated() helps identify repeated rows/keys.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drop_duplicates</a:t>
              </a:r>
              <a:r>
                <a:rPr dirty="0"/>
                <a:t>() removes repetitions according to your rule.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C6F330-4DD5-C8DD-6ABD-B3AA801030AE}"/>
              </a:ext>
            </a:extLst>
          </p:cNvPr>
          <p:cNvGrpSpPr/>
          <p:nvPr/>
        </p:nvGrpSpPr>
        <p:grpSpPr>
          <a:xfrm>
            <a:off x="4386580" y="1874519"/>
            <a:ext cx="3418840" cy="4160520"/>
            <a:chOff x="3703320" y="1874519"/>
            <a:chExt cx="2788920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3703320" y="1874519"/>
              <a:ext cx="2788920" cy="416052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AE0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4487" y="2039112"/>
              <a:ext cx="2386584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264769"/>
                  </a:solidFill>
                  <a:latin typeface="Aptos"/>
                </a:rPr>
                <a:t>Outliers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4487" y="2468879"/>
              <a:ext cx="2386584" cy="3447287"/>
            </a:xfrm>
            <a:prstGeom prst="rect">
              <a:avLst/>
            </a:prstGeom>
            <a:noFill/>
          </p:spPr>
          <p:txBody>
            <a:bodyPr wrap="square" lIns="45720" tIns="18288" rIns="27432" bIns="18288">
              <a:spAutoFit/>
            </a:bodyPr>
            <a:lstStyle/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An outlier is unusually far from other observations.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Some are genuine; others are data-entry errors.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Use domain rules, IQR, or other statistical methods to investigate.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307E6D-4D41-3EAA-EE93-7A0039B0C7FD}"/>
              </a:ext>
            </a:extLst>
          </p:cNvPr>
          <p:cNvGrpSpPr/>
          <p:nvPr/>
        </p:nvGrpSpPr>
        <p:grpSpPr>
          <a:xfrm>
            <a:off x="8178800" y="1874519"/>
            <a:ext cx="3418840" cy="4160520"/>
            <a:chOff x="6812280" y="1874519"/>
            <a:chExt cx="2788920" cy="4160520"/>
          </a:xfrm>
        </p:grpSpPr>
        <p:sp>
          <p:nvSpPr>
            <p:cNvPr id="13" name="Rounded Rectangle 12"/>
            <p:cNvSpPr/>
            <p:nvPr/>
          </p:nvSpPr>
          <p:spPr>
            <a:xfrm>
              <a:off x="6812280" y="1874519"/>
              <a:ext cx="2788920" cy="416052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AE0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3448" y="2039112"/>
              <a:ext cx="2386584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264769"/>
                  </a:solidFill>
                  <a:latin typeface="Aptos"/>
                </a:rPr>
                <a:t>Three treatments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13448" y="2468879"/>
              <a:ext cx="2386584" cy="3447287"/>
            </a:xfrm>
            <a:prstGeom prst="rect">
              <a:avLst/>
            </a:prstGeom>
            <a:noFill/>
          </p:spPr>
          <p:txBody>
            <a:bodyPr wrap="square" lIns="45720" tIns="18288" rIns="27432" bIns="18288">
              <a:spAutoFit/>
            </a:bodyPr>
            <a:lstStyle/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Remove an invalid record.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Replace invalid values with </a:t>
              </a:r>
              <a:r>
                <a:rPr dirty="0" err="1"/>
                <a:t>NaN</a:t>
              </a:r>
              <a:r>
                <a:rPr dirty="0"/>
                <a:t> and handle them later.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Clip/cap values when the application specifically calls for bounded values.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duplicated() &amp; </a:t>
            </a:r>
            <a:r>
              <a:rPr dirty="0" err="1"/>
              <a:t>drop_duplicates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df.duplicated</a:t>
            </a:r>
            <a:r>
              <a:rPr dirty="0"/>
              <a:t>(subset=None, keep='first')</a:t>
            </a:r>
            <a:br>
              <a:rPr dirty="0"/>
            </a:br>
            <a:r>
              <a:rPr dirty="0" err="1"/>
              <a:t>df.drop_duplicates</a:t>
            </a:r>
            <a:r>
              <a:rPr dirty="0"/>
              <a:t>(subset=None, keep='first')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Identify and remove redundant identical rows from a </a:t>
            </a:r>
            <a:r>
              <a:rPr dirty="0" err="1"/>
              <a:t>DataFrame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subset</a:t>
            </a:r>
            <a:r>
              <a:rPr lang="en-US" sz="1100" dirty="0">
                <a:solidFill>
                  <a:srgbClr val="2C3E50"/>
                </a:solidFill>
              </a:rPr>
              <a:t> – Single column name or list of column names to check for duplicates</a:t>
            </a:r>
          </a:p>
          <a:p>
            <a:pPr marL="228600" indent="-171450">
              <a:spcBef>
                <a:spcPts val="500"/>
              </a:spcBef>
              <a:buFont typeface="Arial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ourier New"/>
                <a:cs typeface="Courier New"/>
              </a:rPr>
              <a:t>keep</a:t>
            </a:r>
            <a:r>
              <a:rPr lang="en-US" sz="1100" dirty="0">
                <a:solidFill>
                  <a:srgbClr val="2C3E50"/>
                </a:solidFill>
              </a:rPr>
              <a:t> – 'first' (retain first occurrence), 'last' (retain last occurrence), or False (drop all duplicates)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pd.DataFrame({'ID': [101, 102, 101], 'Val': ['A', 'B', 'A']})</a:t>
            </a:r>
            <a:br/>
            <a:r>
              <a:t>print('Dupes:', df.duplicated().sum())</a:t>
            </a:r>
            <a:br/>
            <a:r>
              <a:t>clean_df = df.drop_duplicates(subset=['ID'])</a:t>
            </a:r>
            <a:br/>
            <a:r>
              <a:t>print(clean_df)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Dupes: 1</a:t>
            </a:r>
            <a:br/>
            <a:r>
              <a:t>    ID Val</a:t>
            </a:r>
            <a:br/>
            <a:r>
              <a:t>0  101   A</a:t>
            </a:r>
            <a:br/>
            <a:r>
              <a:t>1  102   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Function: between() &amp; where()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s.between(left, right, inclusive='both')</a:t>
            </a:r>
            <a:br/>
            <a:r>
              <a:t>df.where(cond, other=np.nan)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Detect out-of-range values and replace anomalies with boundary limits or NaN.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left / right: Boundary thresholds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cond: Boolean condition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other: Value to replace where condition is False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s = pd.Series([22, 150, 45, -5]) # Age data</a:t>
            </a:r>
            <a:br/>
            <a:r>
              <a:t># Keep age only if between 0 and 100</a:t>
            </a:r>
            <a:br/>
            <a:r>
              <a:t>clean_s = s.where(s.between(0, 100))</a:t>
            </a:r>
            <a:br/>
            <a:r>
              <a:t>print(clean_s)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0    22.0</a:t>
            </a:r>
            <a:br/>
            <a:r>
              <a:t>1     NaN</a:t>
            </a:r>
            <a:br/>
            <a:r>
              <a:t>2    45.0</a:t>
            </a:r>
            <a:br/>
            <a:r>
              <a:t>3     NaN</a:t>
            </a:r>
            <a:br/>
            <a:r>
              <a:t>dtype: float64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clip()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s.clip(lower=None, upper=None)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Trim extreme values by capping outliers at upper and lower boundaries.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lower: Minimum threshold cap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upper: Maximum threshold 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s = pd.Series([5, 50, 120, 200])</a:t>
            </a:r>
            <a:br/>
            <a:r>
              <a:t># Cap values between 10 and 100</a:t>
            </a:r>
            <a:br/>
            <a:r>
              <a:t>clipped_s = s.clip(lower=10, upper=100)</a:t>
            </a:r>
            <a:br/>
            <a:r>
              <a:t>print(clipped_s)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0     10</a:t>
            </a:r>
            <a:br/>
            <a:r>
              <a:t>1     50</a:t>
            </a:r>
            <a:br/>
            <a:r>
              <a:t>2    100</a:t>
            </a:r>
            <a:br/>
            <a:r>
              <a:t>3    100</a:t>
            </a:r>
            <a:br/>
            <a:r>
              <a:t>dtype: int64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>
                <a:solidFill>
                  <a:srgbClr val="FFFFFF"/>
                </a:solidFill>
              </a:rPr>
              <a:t>Duplicates &amp; Outliers – Examples</a:t>
            </a:r>
          </a:p>
        </p:txBody>
      </p:sp>
      <p:sp>
        <p:nvSpPr>
          <p:cNvPr id="4" name="Code Card"/>
          <p:cNvSpPr/>
          <p:nvPr/>
        </p:nvSpPr>
        <p:spPr>
          <a:xfrm>
            <a:off x="487985" y="1625273"/>
            <a:ext cx="5608015" cy="3886199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numpy as np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Drop duplicates based on 'ID'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 = pd.DataFrame({'ID': [101, 102, 101],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'Val': ['A', 'B', 'A']})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print(df.drop_duplicates(subset=['ID'], keep='first'))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Out-of-range values to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s = pd.Series([22, 150, 45, -5])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print(s.where(s.between(0, 100), other=np.nan))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</p:txBody>
      </p:sp>
      <p:sp>
        <p:nvSpPr>
          <p:cNvPr id="11" name="Output Card"/>
          <p:cNvSpPr/>
          <p:nvPr/>
        </p:nvSpPr>
        <p:spPr>
          <a:xfrm>
            <a:off x="7067732" y="1625273"/>
            <a:ext cx="3624986" cy="1600199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Drop duplicates based on 'ID'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ID Val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101   A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102   B</a:t>
            </a:r>
          </a:p>
        </p:txBody>
      </p:sp>
      <p:sp>
        <p:nvSpPr>
          <p:cNvPr id="12" name="Output Card"/>
          <p:cNvSpPr/>
          <p:nvPr/>
        </p:nvSpPr>
        <p:spPr>
          <a:xfrm>
            <a:off x="7067732" y="3632529"/>
            <a:ext cx="3624986" cy="1600199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Out-of-range values to NaN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0    22.0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 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2    45.0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3    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dtype: float64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Text Cleaning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Cleaning String Columns using Vectorized .str Accessors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732"/>
                </a:solidFill>
                <a:latin typeface="Aptos"/>
              </a:rPr>
              <a:t>Text cleaning: make the same thing look the 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Computers compare strings literally, so small differences such as spaces and capitalization can create different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Common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'Admin', ' admin ', and 'ADMIN' may represent the same category.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Currency symbols and commas can turn numbers into text.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Combined fields such as 'John Smith' may need to be split.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7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The .str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strip() removes unwanted leading/trailing spaces.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lower(), upper(), title() standardize case.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replace() changes unwanted characters or patterns.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split() separates text using a delimiter.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Why it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Cleaner grouping and filtering.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More reliable comparisons and lookups.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Numeric text can be converted after symbols are removed.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.</a:t>
            </a:r>
            <a:r>
              <a:rPr dirty="0" err="1"/>
              <a:t>str.strip</a:t>
            </a:r>
            <a:r>
              <a:rPr dirty="0"/>
              <a:t>(), .</a:t>
            </a:r>
            <a:r>
              <a:rPr dirty="0" err="1"/>
              <a:t>str.lower</a:t>
            </a:r>
            <a:r>
              <a:rPr dirty="0"/>
              <a:t>(), .</a:t>
            </a:r>
            <a:r>
              <a:rPr dirty="0" err="1"/>
              <a:t>str.title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s.str.strip</a:t>
            </a:r>
            <a:r>
              <a:rPr dirty="0"/>
              <a:t>(</a:t>
            </a:r>
            <a:r>
              <a:rPr dirty="0" err="1"/>
              <a:t>to_strip</a:t>
            </a:r>
            <a:r>
              <a:rPr dirty="0"/>
              <a:t>=None)</a:t>
            </a:r>
            <a:br>
              <a:rPr dirty="0"/>
            </a:br>
            <a:r>
              <a:rPr dirty="0" err="1"/>
              <a:t>s.str.lower</a:t>
            </a:r>
            <a:r>
              <a:rPr dirty="0"/>
              <a:t>()</a:t>
            </a:r>
            <a:br>
              <a:rPr dirty="0"/>
            </a:br>
            <a:r>
              <a:rPr dirty="0" err="1"/>
              <a:t>s.str.title</a:t>
            </a:r>
            <a:r>
              <a:rPr dirty="0"/>
              <a:t>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Clean text by stripping leading/trailing spaces and standardizing casing.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to_strip: Specific characters to remove (default whitespace)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s = pd.Series(['  admin ', 'TECHNICAL', ' staff'])</a:t>
            </a:r>
            <a:br/>
            <a:r>
              <a:t>clean_s = s.str.strip().str.title()</a:t>
            </a:r>
            <a:br/>
            <a:r>
              <a:t>print(clean_s)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rPr dirty="0"/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dirty="0"/>
              <a:t>0        Admin</a:t>
            </a:r>
            <a:br>
              <a:rPr dirty="0"/>
            </a:br>
            <a:r>
              <a:rPr dirty="0"/>
              <a:t>1    Technical</a:t>
            </a:r>
            <a:br>
              <a:rPr dirty="0"/>
            </a:br>
            <a:r>
              <a:rPr dirty="0"/>
              <a:t>2        Staff</a:t>
            </a:r>
            <a:br>
              <a:rPr dirty="0"/>
            </a:br>
            <a:r>
              <a:rPr dirty="0" err="1"/>
              <a:t>dtype</a:t>
            </a:r>
            <a:r>
              <a:rPr dirty="0"/>
              <a:t>: object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.</a:t>
            </a:r>
            <a:r>
              <a:rPr dirty="0" err="1"/>
              <a:t>str.replace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s.str.replace</a:t>
            </a:r>
            <a:r>
              <a:rPr dirty="0"/>
              <a:t>(pat, </a:t>
            </a:r>
            <a:r>
              <a:rPr dirty="0" err="1"/>
              <a:t>repl</a:t>
            </a:r>
            <a:r>
              <a:rPr dirty="0"/>
              <a:t>, regex=False)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Replace unwanted characters, symbols (like '$' or '%'), or typos in text columns.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pat: String pattern or regex to find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</a:t>
            </a:r>
            <a:r>
              <a:rPr dirty="0" err="1"/>
              <a:t>repl</a:t>
            </a:r>
            <a:r>
              <a:rPr dirty="0"/>
              <a:t>: Replacement string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regex</a:t>
            </a:r>
            <a:r>
              <a:rPr lang="en-US" dirty="0"/>
              <a:t>=True</a:t>
            </a:r>
            <a:r>
              <a:rPr dirty="0"/>
              <a:t>: </a:t>
            </a:r>
            <a:r>
              <a:rPr lang="en-IN" sz="1100" dirty="0">
                <a:solidFill>
                  <a:srgbClr val="7F8C8D"/>
                </a:solidFill>
              </a:rPr>
              <a:t>explicitly tell the function to treat the passed pattern as a regular expression rather than a literal string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s = pd.Series(['$1,200', '$3,500'])</a:t>
            </a:r>
            <a:br/>
            <a:r>
              <a:t># Strip '$' and ',' then convert to float</a:t>
            </a:r>
            <a:br/>
            <a:r>
              <a:t>num_s = pd.to_numeric(s.str.replace('$', '', regex=False).str.replace(',', '', regex=False))</a:t>
            </a:r>
            <a:br/>
            <a:r>
              <a:t>print(num_s)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0    1200.0</a:t>
            </a:r>
            <a:br/>
            <a:r>
              <a:t>1    3500.0</a:t>
            </a:r>
            <a:br/>
            <a:r>
              <a:t>dtype: float64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.</a:t>
            </a:r>
            <a:r>
              <a:rPr dirty="0" err="1"/>
              <a:t>str.split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s.str.split</a:t>
            </a:r>
            <a:r>
              <a:rPr dirty="0"/>
              <a:t>(pat=None, n=-1, expand=False)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Split a single text column into multiple separate columns based on a delimiter.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pat: Delimiter string</a:t>
            </a:r>
            <a:endParaRPr lang="en-US" dirty="0"/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lang="en-IN" sz="1100" b="1" dirty="0">
                <a:solidFill>
                  <a:srgbClr val="7F8C8D"/>
                </a:solidFill>
              </a:rPr>
              <a:t>  - n=-1</a:t>
            </a:r>
            <a:r>
              <a:rPr lang="en-IN" sz="1100" dirty="0">
                <a:solidFill>
                  <a:srgbClr val="7F8C8D"/>
                </a:solidFill>
              </a:rPr>
              <a:t>: Unlimited splits. </a:t>
            </a:r>
            <a:endParaRPr dirty="0"/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expand: True returns </a:t>
            </a:r>
            <a:r>
              <a:rPr dirty="0" err="1"/>
              <a:t>DataFrame</a:t>
            </a:r>
            <a:r>
              <a:rPr dirty="0"/>
              <a:t>; False returns list Series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/>
              <a:t>s = </a:t>
            </a:r>
            <a:r>
              <a:rPr dirty="0" err="1"/>
              <a:t>pd.Series</a:t>
            </a:r>
            <a:r>
              <a:rPr dirty="0"/>
              <a:t>(['John Smith', 'Jane Doe'])</a:t>
            </a:r>
            <a:br>
              <a:rPr dirty="0"/>
            </a:br>
            <a:r>
              <a:rPr dirty="0"/>
              <a:t># Split into First and Last names</a:t>
            </a:r>
            <a:br>
              <a:rPr dirty="0"/>
            </a:br>
            <a:r>
              <a:rPr dirty="0" err="1"/>
              <a:t>name_df</a:t>
            </a:r>
            <a:r>
              <a:rPr dirty="0"/>
              <a:t> = </a:t>
            </a:r>
            <a:r>
              <a:rPr dirty="0" err="1"/>
              <a:t>s.str.split</a:t>
            </a:r>
            <a:r>
              <a:rPr dirty="0"/>
              <a:t>(' ', expand=True)</a:t>
            </a:r>
            <a:br>
              <a:rPr dirty="0"/>
            </a:br>
            <a:r>
              <a:rPr dirty="0" err="1"/>
              <a:t>name_df.columns</a:t>
            </a:r>
            <a:r>
              <a:rPr dirty="0"/>
              <a:t> = ['First', 'Last']</a:t>
            </a:r>
            <a:br>
              <a:rPr dirty="0"/>
            </a:br>
            <a:r>
              <a:rPr dirty="0"/>
              <a:t>print(</a:t>
            </a:r>
            <a:r>
              <a:rPr dirty="0" err="1"/>
              <a:t>name_df</a:t>
            </a:r>
            <a:r>
              <a:rPr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First  Last</a:t>
            </a:r>
            <a:br/>
            <a:r>
              <a:t>0  John Smith</a:t>
            </a:r>
            <a:br/>
            <a:r>
              <a:t>1  Jane   Doe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>
                <a:solidFill>
                  <a:srgbClr val="FFFFFF"/>
                </a:solidFill>
              </a:rPr>
              <a:t>.str Accessors –Examples</a:t>
            </a:r>
          </a:p>
        </p:txBody>
      </p:sp>
      <p:sp>
        <p:nvSpPr>
          <p:cNvPr id="4" name="Code Card"/>
          <p:cNvSpPr/>
          <p:nvPr/>
        </p:nvSpPr>
        <p:spPr>
          <a:xfrm>
            <a:off x="487985" y="1161288"/>
            <a:ext cx="5608015" cy="41579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Remove currency symbols and commas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 = pd.Series(['$1,200', '$3,500'])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print(pd.to_numeric(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p.str.replace('$', '', regex=False)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.str.replace(',', '', regex=False)))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Split into First and Last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n = pd.Series(['John Smith', 'Jane Doe'])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name_df = n.str.split(' ', n=1, expand=True)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name_df.columns = ['First', 'Last']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</a:t>
            </a:r>
            <a:r>
              <a:rPr lang="en-US" sz="1100" b="0" dirty="0" err="1">
                <a:solidFill>
                  <a:srgbClr val="DCDCDC"/>
                </a:solidFill>
                <a:latin typeface="Courier New"/>
                <a:cs typeface="Courier New"/>
              </a:rPr>
              <a:t>name_df</a:t>
            </a: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buNone/>
            </a:pPr>
            <a:endParaRPr lang="en-US" sz="1100" dirty="0">
              <a:solidFill>
                <a:srgbClr val="DCDCDC"/>
              </a:solidFill>
              <a:latin typeface="Courier New"/>
              <a:cs typeface="Courier New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# split into First and Last </a:t>
            </a:r>
          </a:p>
          <a:p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n = </a:t>
            </a:r>
            <a:r>
              <a:rPr lang="en-US" sz="1100" dirty="0" err="1">
                <a:solidFill>
                  <a:srgbClr val="DCDCDC"/>
                </a:solidFill>
                <a:latin typeface="Courier New"/>
                <a:cs typeface="Courier New"/>
              </a:rPr>
              <a:t>pd.Series</a:t>
            </a:r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(['John Smith', 'Jane Doe'])</a:t>
            </a:r>
          </a:p>
          <a:p>
            <a:r>
              <a:rPr lang="en-US" sz="1100" dirty="0" err="1">
                <a:solidFill>
                  <a:srgbClr val="DCDCDC"/>
                </a:solidFill>
                <a:latin typeface="Courier New"/>
                <a:cs typeface="Courier New"/>
              </a:rPr>
              <a:t>name_df</a:t>
            </a:r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 = </a:t>
            </a:r>
            <a:r>
              <a:rPr lang="en-US" sz="1100" dirty="0" err="1">
                <a:solidFill>
                  <a:srgbClr val="DCDCDC"/>
                </a:solidFill>
                <a:latin typeface="Courier New"/>
                <a:cs typeface="Courier New"/>
              </a:rPr>
              <a:t>n.str.split</a:t>
            </a:r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(' ', n=1, expand=False)</a:t>
            </a:r>
          </a:p>
          <a:p>
            <a:r>
              <a:rPr lang="en-US" sz="1100" dirty="0" err="1">
                <a:solidFill>
                  <a:srgbClr val="DCDCDC"/>
                </a:solidFill>
                <a:latin typeface="Courier New"/>
                <a:cs typeface="Courier New"/>
              </a:rPr>
              <a:t>name_df.columns</a:t>
            </a:r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 = ['First', 'Last']</a:t>
            </a:r>
          </a:p>
          <a:p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print(</a:t>
            </a:r>
            <a:r>
              <a:rPr lang="en-US" sz="1100" dirty="0" err="1">
                <a:solidFill>
                  <a:srgbClr val="DCDCDC"/>
                </a:solidFill>
                <a:latin typeface="Courier New"/>
                <a:cs typeface="Courier New"/>
              </a:rPr>
              <a:t>name_df</a:t>
            </a:r>
            <a:r>
              <a:rPr lang="en-US" sz="1100" dirty="0">
                <a:solidFill>
                  <a:srgbClr val="DCDCDC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buNone/>
            </a:pPr>
            <a:endParaRPr lang="en-US" sz="1100" b="0" dirty="0">
              <a:solidFill>
                <a:srgbClr val="DCDCDC"/>
              </a:solidFill>
              <a:latin typeface="Courier New"/>
              <a:cs typeface="Courier New"/>
            </a:endParaRPr>
          </a:p>
        </p:txBody>
      </p:sp>
      <p:sp>
        <p:nvSpPr>
          <p:cNvPr id="11" name="Output Card"/>
          <p:cNvSpPr/>
          <p:nvPr/>
        </p:nvSpPr>
        <p:spPr>
          <a:xfrm>
            <a:off x="7066188" y="4938733"/>
            <a:ext cx="3624986" cy="151595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r>
              <a:rPr lang="en-US" sz="1100" b="1" dirty="0">
                <a:solidFill>
                  <a:srgbClr val="2C3E50"/>
                </a:solidFill>
              </a:rPr>
              <a:t>EXPECTED OUTPUT: Split into First and Last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[John, Smith]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[Jane, Doe]</a:t>
            </a:r>
          </a:p>
          <a:p>
            <a:r>
              <a:rPr lang="en-IN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object</a:t>
            </a:r>
          </a:p>
        </p:txBody>
      </p:sp>
      <p:sp>
        <p:nvSpPr>
          <p:cNvPr id="12" name="Output Card"/>
          <p:cNvSpPr/>
          <p:nvPr/>
        </p:nvSpPr>
        <p:spPr>
          <a:xfrm>
            <a:off x="7066188" y="1161288"/>
            <a:ext cx="3624986" cy="151595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Remove currency symbols and commas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0    1200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1    3500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dtype: int64</a:t>
            </a:r>
          </a:p>
        </p:txBody>
      </p:sp>
      <p:sp>
        <p:nvSpPr>
          <p:cNvPr id="13" name="Output Card"/>
          <p:cNvSpPr/>
          <p:nvPr/>
        </p:nvSpPr>
        <p:spPr>
          <a:xfrm>
            <a:off x="7066188" y="3014261"/>
            <a:ext cx="3624986" cy="151595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Split into First and Last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First   Last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John  Smith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Jane    Doe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Data Types in Pandas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Understanding, Diagnosing &amp; Converting Column Data Types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732"/>
                </a:solidFill>
                <a:latin typeface="Aptos"/>
              </a:rPr>
              <a:t>Data types: tell Pandas what each column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A value that looks like a number may still be stored as text, and that difference affects what Pandas can do with it.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0EB32B-4199-DEC2-A60C-2B3203B60A72}"/>
              </a:ext>
            </a:extLst>
          </p:cNvPr>
          <p:cNvGrpSpPr/>
          <p:nvPr/>
        </p:nvGrpSpPr>
        <p:grpSpPr>
          <a:xfrm>
            <a:off x="594360" y="1874519"/>
            <a:ext cx="3449320" cy="4160520"/>
            <a:chOff x="594360" y="1874519"/>
            <a:chExt cx="2788920" cy="4160520"/>
          </a:xfrm>
        </p:grpSpPr>
        <p:sp>
          <p:nvSpPr>
            <p:cNvPr id="7" name="Rounded Rectangle 6"/>
            <p:cNvSpPr/>
            <p:nvPr/>
          </p:nvSpPr>
          <p:spPr>
            <a:xfrm>
              <a:off x="594360" y="1874519"/>
              <a:ext cx="2788920" cy="416052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AE0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2039112"/>
              <a:ext cx="2386584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264769"/>
                  </a:solidFill>
                  <a:latin typeface="Aptos"/>
                </a:rPr>
                <a:t>Think in types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5528" y="2468879"/>
              <a:ext cx="2386584" cy="3447287"/>
            </a:xfrm>
            <a:prstGeom prst="rect">
              <a:avLst/>
            </a:prstGeom>
            <a:noFill/>
          </p:spPr>
          <p:txBody>
            <a:bodyPr wrap="square" lIns="45720" tIns="18288" rIns="27432" bIns="18288">
              <a:spAutoFit/>
            </a:bodyPr>
            <a:lstStyle/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25 → integer.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98.5 → decimal/float.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'25' → text/string.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2024-01-01 → date/time after conversion.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AFE80E-9C53-F404-CB2A-44EBFCF3FA5F}"/>
              </a:ext>
            </a:extLst>
          </p:cNvPr>
          <p:cNvGrpSpPr/>
          <p:nvPr/>
        </p:nvGrpSpPr>
        <p:grpSpPr>
          <a:xfrm>
            <a:off x="4371341" y="1874519"/>
            <a:ext cx="3449320" cy="4160520"/>
            <a:chOff x="3703320" y="1874519"/>
            <a:chExt cx="2788920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3703320" y="1874519"/>
              <a:ext cx="2788920" cy="416052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AE0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4487" y="2039112"/>
              <a:ext cx="2386584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264769"/>
                  </a:solidFill>
                  <a:latin typeface="Aptos"/>
                </a:rPr>
                <a:t>Why it matters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4487" y="2468879"/>
              <a:ext cx="2386584" cy="3447287"/>
            </a:xfrm>
            <a:prstGeom prst="rect">
              <a:avLst/>
            </a:prstGeom>
            <a:noFill/>
          </p:spPr>
          <p:txBody>
            <a:bodyPr wrap="square" lIns="45720" tIns="18288" rIns="27432" bIns="18288">
              <a:spAutoFit/>
            </a:bodyPr>
            <a:lstStyle/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t>• Text cannot reliably be used for numeric arithmetic.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t>• Dates stored as text are harder to sort and analyze by time.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t>• Correct dtypes make operations predictable.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962F72-A49F-A0ED-D17E-B0D0D4B4F557}"/>
              </a:ext>
            </a:extLst>
          </p:cNvPr>
          <p:cNvGrpSpPr/>
          <p:nvPr/>
        </p:nvGrpSpPr>
        <p:grpSpPr>
          <a:xfrm>
            <a:off x="8148322" y="1847088"/>
            <a:ext cx="3449320" cy="4160520"/>
            <a:chOff x="6812280" y="1874519"/>
            <a:chExt cx="2788920" cy="4160520"/>
          </a:xfrm>
        </p:grpSpPr>
        <p:sp>
          <p:nvSpPr>
            <p:cNvPr id="13" name="Rounded Rectangle 12"/>
            <p:cNvSpPr/>
            <p:nvPr/>
          </p:nvSpPr>
          <p:spPr>
            <a:xfrm>
              <a:off x="6812280" y="1874519"/>
              <a:ext cx="2788920" cy="416052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AE0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3448" y="2039112"/>
              <a:ext cx="2386584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264769"/>
                  </a:solidFill>
                  <a:latin typeface="Aptos"/>
                </a:rPr>
                <a:t>Conversion tools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13448" y="2468879"/>
              <a:ext cx="2386584" cy="3447287"/>
            </a:xfrm>
            <a:prstGeom prst="rect">
              <a:avLst/>
            </a:prstGeom>
            <a:noFill/>
          </p:spPr>
          <p:txBody>
            <a:bodyPr wrap="square" lIns="45720" tIns="18288" rIns="27432" bIns="18288">
              <a:spAutoFit/>
            </a:bodyPr>
            <a:lstStyle/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astype</a:t>
              </a:r>
              <a:r>
                <a:rPr dirty="0"/>
                <a:t>() → direct type conversion.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pd.to_numeric</a:t>
              </a:r>
              <a:r>
                <a:rPr dirty="0"/>
                <a:t>() → convert numeric text; errors='coerce' can create </a:t>
              </a:r>
              <a:r>
                <a:rPr dirty="0" err="1"/>
                <a:t>NaN</a:t>
              </a:r>
              <a:r>
                <a:rPr dirty="0"/>
                <a:t>.</a:t>
              </a:r>
            </a:p>
            <a:p>
              <a:pPr>
                <a:spcAft>
                  <a:spcPts val="700"/>
                </a:spcAft>
                <a:defRPr sz="1400">
                  <a:solidFill>
                    <a:srgbClr val="373F4B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pd.to_datetime</a:t>
              </a:r>
              <a:r>
                <a:rPr dirty="0"/>
                <a:t>() → convert date strings into timestamps.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Core Pandas Data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int64 / float64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Numeric types for whole integers and decimal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object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Text strings or mixed Python objects (often needs cleaning).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79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datetime64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Specialized timestamp format enabling calendar math and time-series accessors.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bool &amp; category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Boolean True/False and memory-efficient categorical variables.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dtypes</a:t>
            </a:r>
            <a:r>
              <a:rPr dirty="0"/>
              <a:t> &amp; </a:t>
            </a:r>
            <a:r>
              <a:rPr dirty="0" err="1"/>
              <a:t>astype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df.dtypes</a:t>
            </a:r>
            <a:r>
              <a:rPr dirty="0"/>
              <a:t>  # Attribute</a:t>
            </a:r>
            <a:br>
              <a:rPr dirty="0"/>
            </a:br>
            <a:r>
              <a:rPr dirty="0" err="1"/>
              <a:t>df</a:t>
            </a:r>
            <a:r>
              <a:rPr dirty="0"/>
              <a:t>[col].</a:t>
            </a:r>
            <a:r>
              <a:rPr dirty="0" err="1"/>
              <a:t>astype</a:t>
            </a:r>
            <a:r>
              <a:rPr dirty="0"/>
              <a:t>(</a:t>
            </a:r>
            <a:r>
              <a:rPr dirty="0" err="1"/>
              <a:t>dtype</a:t>
            </a:r>
            <a:r>
              <a:rPr lang="en-US" dirty="0"/>
              <a:t>, </a:t>
            </a:r>
            <a:r>
              <a:rPr dirty="0"/>
              <a:t>errors='raise')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Inspect column types and cast columns explicitly from one type to another.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</a:t>
            </a:r>
            <a:r>
              <a:rPr dirty="0" err="1"/>
              <a:t>dtype</a:t>
            </a:r>
            <a:r>
              <a:rPr dirty="0"/>
              <a:t>: Target type (e.g., 'int32', 'float64', 'category')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errors: 'raise' or 'ignore'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  <a:endParaRPr lang="en-IN" dirty="0"/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lang="en-IN" dirty="0"/>
              <a:t>import pandas as pd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({'Zip': [10001, 90210]})</a:t>
            </a:r>
            <a:br>
              <a:rPr lang="en-IN" dirty="0"/>
            </a:br>
            <a:r>
              <a:rPr lang="en-IN" dirty="0"/>
              <a:t>print('Before:', </a:t>
            </a:r>
            <a:r>
              <a:rPr lang="en-IN" dirty="0" err="1"/>
              <a:t>df</a:t>
            </a:r>
            <a:r>
              <a:rPr lang="en-IN" dirty="0"/>
              <a:t>['Zip'].</a:t>
            </a:r>
            <a:r>
              <a:rPr lang="en-IN" dirty="0" err="1"/>
              <a:t>dtype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# Cast Zip code from number to string</a:t>
            </a:r>
            <a:br>
              <a:rPr lang="en-IN" dirty="0"/>
            </a:br>
            <a:r>
              <a:rPr lang="en-IN" dirty="0" err="1"/>
              <a:t>df</a:t>
            </a:r>
            <a:r>
              <a:rPr lang="en-IN" dirty="0"/>
              <a:t>['Zip'] = </a:t>
            </a:r>
            <a:r>
              <a:rPr lang="en-IN" dirty="0" err="1"/>
              <a:t>df</a:t>
            </a:r>
            <a:r>
              <a:rPr lang="en-IN" dirty="0"/>
              <a:t>['Zip'].</a:t>
            </a:r>
            <a:r>
              <a:rPr lang="en-IN" dirty="0" err="1"/>
              <a:t>astype</a:t>
            </a:r>
            <a:r>
              <a:rPr lang="en-IN" dirty="0"/>
              <a:t>(str)</a:t>
            </a:r>
            <a:br>
              <a:rPr lang="en-IN" dirty="0"/>
            </a:br>
            <a:r>
              <a:rPr lang="en-IN" dirty="0"/>
              <a:t>print('After:', </a:t>
            </a:r>
            <a:r>
              <a:rPr lang="en-IN" dirty="0" err="1"/>
              <a:t>df</a:t>
            </a:r>
            <a:r>
              <a:rPr lang="en-IN" dirty="0"/>
              <a:t>['Zip'].</a:t>
            </a:r>
            <a:r>
              <a:rPr lang="en-IN" dirty="0" err="1"/>
              <a:t>dtype</a:t>
            </a:r>
            <a:r>
              <a:rPr lang="en-IN"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rPr dirty="0"/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rPr dirty="0"/>
              <a:t>Before: int64</a:t>
            </a:r>
            <a:br>
              <a:rPr dirty="0"/>
            </a:br>
            <a:r>
              <a:rPr dirty="0"/>
              <a:t>After: object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to_numeric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pd.to_numeric(arg, errors='raise', downcast=None)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Safely convert text strings containing numbers into floats/</a:t>
            </a:r>
            <a:r>
              <a:rPr dirty="0" err="1"/>
              <a:t>ints</a:t>
            </a:r>
            <a:r>
              <a:rPr dirty="0"/>
              <a:t>, coercing errors.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</a:t>
            </a:r>
            <a:r>
              <a:rPr dirty="0" err="1"/>
              <a:t>arg</a:t>
            </a:r>
            <a:r>
              <a:rPr dirty="0"/>
              <a:t>: Series or scalar to convert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errors: 'raise' (throw error), 'coerce' (turn invalid to </a:t>
            </a:r>
            <a:r>
              <a:rPr dirty="0" err="1"/>
              <a:t>NaN</a:t>
            </a:r>
            <a:r>
              <a:rPr dirty="0"/>
              <a:t>), or 'ignore’</a:t>
            </a:r>
            <a:endParaRPr lang="en-US" dirty="0"/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lang="en-IN" dirty="0"/>
              <a:t>- </a:t>
            </a:r>
            <a:r>
              <a:rPr lang="en-IN" sz="1100" dirty="0">
                <a:solidFill>
                  <a:srgbClr val="7F8C8D"/>
                </a:solidFill>
              </a:rPr>
              <a:t>used to optimize memory usage by reducing a numeric column to the smallest possible data type (like int8, int16) that can still hold all of its values safely without losing data. 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s = pd.Series(['10', '20', 'INVALID', '40'])</a:t>
            </a:r>
            <a:br/>
            <a:r>
              <a:t># Coerce invalid string to NaN</a:t>
            </a:r>
            <a:br/>
            <a:r>
              <a:t>clean_s = pd.to_numeric(s, errors='coerce')</a:t>
            </a:r>
            <a:br/>
            <a:r>
              <a:t>print(clean_s)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0    10.0</a:t>
            </a:r>
            <a:br/>
            <a:r>
              <a:t>1    20.0</a:t>
            </a:r>
            <a:br/>
            <a:r>
              <a:t>2     NaN</a:t>
            </a:r>
            <a:br/>
            <a:r>
              <a:t>3    40.0</a:t>
            </a:r>
            <a:br/>
            <a:r>
              <a:t>dtype: float64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to_datetime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pd.to_datetime(arg, format=None, errors='raise')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Convert string text columns into proper Datetime timestamps.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</a:t>
            </a:r>
            <a:r>
              <a:rPr dirty="0" err="1"/>
              <a:t>arg</a:t>
            </a:r>
            <a:r>
              <a:rPr dirty="0"/>
              <a:t>: Series of string dates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format: Explicit </a:t>
            </a:r>
            <a:r>
              <a:rPr dirty="0" err="1"/>
              <a:t>strftime</a:t>
            </a:r>
            <a:r>
              <a:rPr dirty="0"/>
              <a:t> format e.g. '%Y-%m-%d'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errors: 'coerce' turns </a:t>
            </a:r>
            <a:r>
              <a:rPr dirty="0" err="1"/>
              <a:t>unparseable</a:t>
            </a:r>
            <a:r>
              <a:rPr dirty="0"/>
              <a:t> to </a:t>
            </a:r>
            <a:r>
              <a:rPr dirty="0" err="1"/>
              <a:t>NaT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pd.DataFrame({'Date': ['2023-01-01', '2023-05-15']})</a:t>
            </a:r>
            <a:br/>
            <a:r>
              <a:t>df['Date'] = pd.to_datetime(df['Date'])</a:t>
            </a:r>
            <a:br/>
            <a:r>
              <a:t>print(df['Date'].dt.day_name())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Sunday</a:t>
            </a:r>
            <a:br/>
            <a:r>
              <a:t>1    Monday</a:t>
            </a:r>
            <a:br/>
            <a:r>
              <a:t>Name: Date, dtype: object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B3E034-9D38-7FA7-AD76-B1655D2AB34C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>
                <a:solidFill>
                  <a:srgbClr val="FFFFFF"/>
                </a:solidFill>
              </a:rPr>
              <a:t>Type Conversion –Examples</a:t>
            </a:r>
          </a:p>
        </p:txBody>
      </p:sp>
      <p:sp>
        <p:nvSpPr>
          <p:cNvPr id="4" name="Code Card"/>
          <p:cNvSpPr/>
          <p:nvPr/>
        </p:nvSpPr>
        <p:spPr>
          <a:xfrm>
            <a:off x="548945" y="1161288"/>
            <a:ext cx="5608015" cy="36259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Change a column's data type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 = pd.DataFrame({'Zip': [10001, 90210]})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df['Zip'] = df['Zip'].astype(str)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print(df['Zip'].dtype)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Invalid numbers become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s = pd.Series(['10', 'INVALID', '40'])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print(pd.to_numeric(s, errors='coerce'))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Parse dates with explicit format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 = pd.DataFrame({'Date': ['2023-01-01', 'bad']})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d['Date'] = pd.to_datetime(d['Date'],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      format='%Y-%m-%d',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      errors='coerce')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print(d)</a:t>
            </a:r>
          </a:p>
        </p:txBody>
      </p:sp>
      <p:sp>
        <p:nvSpPr>
          <p:cNvPr id="11" name="Output Card"/>
          <p:cNvSpPr/>
          <p:nvPr/>
        </p:nvSpPr>
        <p:spPr>
          <a:xfrm>
            <a:off x="7067732" y="1285072"/>
            <a:ext cx="3624986" cy="159596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Change a column's data type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object</a:t>
            </a:r>
          </a:p>
        </p:txBody>
      </p:sp>
      <p:sp>
        <p:nvSpPr>
          <p:cNvPr id="12" name="Output Card"/>
          <p:cNvSpPr/>
          <p:nvPr/>
        </p:nvSpPr>
        <p:spPr>
          <a:xfrm>
            <a:off x="7067732" y="3113872"/>
            <a:ext cx="3624986" cy="159596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Invalid numbers become NaN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0    10.0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  NaN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2    40.0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dtype: float64</a:t>
            </a:r>
          </a:p>
        </p:txBody>
      </p:sp>
      <p:sp>
        <p:nvSpPr>
          <p:cNvPr id="13" name="Output Card"/>
          <p:cNvSpPr/>
          <p:nvPr/>
        </p:nvSpPr>
        <p:spPr>
          <a:xfrm>
            <a:off x="7067732" y="4942672"/>
            <a:ext cx="3624986" cy="1595968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Parse dates with explicit format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     Date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2023-01-01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     NaT</a:t>
            </a:r>
          </a:p>
        </p:txBody>
      </p:sp>
    </p:spTree>
    <p:extLst>
      <p:ext uri="{BB962C8B-B14F-4D97-AF65-F5344CB8AC3E}">
        <p14:creationId xmlns:p14="http://schemas.microsoft.com/office/powerpoint/2010/main" val="7465071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73A3-F3CD-2B9A-7EF9-60B9F5F6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4B482-1AF1-D9F5-5652-1C00B1D0FE4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 Data Preparation Lifecycle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9D9662-921C-CEEA-6AA2-2EBC72D0F313}"/>
              </a:ext>
            </a:extLst>
          </p:cNvPr>
          <p:cNvSpPr/>
          <p:nvPr/>
        </p:nvSpPr>
        <p:spPr>
          <a:xfrm>
            <a:off x="548640" y="1280160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1. Inspect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Examine data types, shapes, missing counts, and summary statistics.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F22809-23AD-8B3B-4866-1669FC91FE6B}"/>
              </a:ext>
            </a:extLst>
          </p:cNvPr>
          <p:cNvSpPr/>
          <p:nvPr/>
        </p:nvSpPr>
        <p:spPr>
          <a:xfrm>
            <a:off x="548640" y="2304287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2. Clean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Convert types, handle missing values, strip whitespace, and drop duplicates.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35CF87-E835-9D0B-0D9C-706365A4E6C7}"/>
              </a:ext>
            </a:extLst>
          </p:cNvPr>
          <p:cNvSpPr/>
          <p:nvPr/>
        </p:nvSpPr>
        <p:spPr>
          <a:xfrm>
            <a:off x="548792" y="3328415"/>
            <a:ext cx="11094415" cy="886968"/>
          </a:xfrm>
          <a:prstGeom prst="roundRect">
            <a:avLst/>
          </a:prstGeom>
          <a:solidFill>
            <a:schemeClr val="bg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3. Validate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rPr dirty="0"/>
              <a:t>Verify domain constraints (e.g., Age between 0 and 120, positive prices).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7268EB-3944-1773-B791-606CC821D66C}"/>
              </a:ext>
            </a:extLst>
          </p:cNvPr>
          <p:cNvSpPr/>
          <p:nvPr/>
        </p:nvSpPr>
        <p:spPr>
          <a:xfrm>
            <a:off x="548640" y="4352544"/>
            <a:ext cx="11094415" cy="886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4. Analyze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Filter, group, aggregate, and visualize clean datasets.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B5358D-0AFC-0E68-4B29-E8F98AC87FC7}"/>
              </a:ext>
            </a:extLst>
          </p:cNvPr>
          <p:cNvSpPr/>
          <p:nvPr/>
        </p:nvSpPr>
        <p:spPr>
          <a:xfrm>
            <a:off x="548640" y="5376671"/>
            <a:ext cx="11094415" cy="88696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5. Export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Save cleaned datasets and final summary tables for business reporting.</a:t>
            </a:r>
          </a:p>
        </p:txBody>
      </p:sp>
    </p:spTree>
    <p:extLst>
      <p:ext uri="{BB962C8B-B14F-4D97-AF65-F5344CB8AC3E}">
        <p14:creationId xmlns:p14="http://schemas.microsoft.com/office/powerpoint/2010/main" val="21211025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Selecting &amp; Filtering Data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 err="1"/>
              <a:t>Subsetting</a:t>
            </a:r>
            <a:r>
              <a:rPr dirty="0"/>
              <a:t> Columns and Filtering Rows using Indexers &amp; Boolean Logic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732"/>
                </a:solidFill>
                <a:latin typeface="Aptos"/>
              </a:rPr>
              <a:t>Selecting and filtering: ask Pandas for exactly what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Selection chooses columns; filtering chooses rows. Boolean logic lets you express questions about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df['Age'] → one Series.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df[['Name','Age']] → a DataFrame with selected columns.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The double brackets are important when selecting multiple columns.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7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Rows &amp;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loc uses labels.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iloc uses integer positions starting at 0.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Both can select specific rows and columns.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Boolean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Create True/False conditions.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&amp; means AND; | means OR; ~ means NOT.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Put each condition inside parentheses.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isin() is useful when matching against a list of allowed values.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Column Selection: [] vs [[]]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df['col_name']  # Returns 1D Series</a:t>
            </a:r>
            <a:br/>
            <a:r>
              <a:t>df[['col1', 'col2']]  # Returns 2D DataFrame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Select specific columns from a DataFrame.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single bracket: Extracts a single column as Pandas Series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double bracket: Extracts subset as Pandas DataFrame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pd.DataFrame({'A': [1, 2], 'B': [3, 4], 'C': [5, 6]})</a:t>
            </a:r>
            <a:br/>
            <a:r>
              <a:t>print('--- Series ---')</a:t>
            </a:r>
            <a:br/>
            <a:r>
              <a:t>print(type(df['A']))</a:t>
            </a:r>
            <a:br/>
            <a:r>
              <a:t>print('--- DataFrame ---')</a:t>
            </a:r>
            <a:br/>
            <a:r>
              <a:t>print(type(df[['A', 'B']]))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--- Series ---</a:t>
            </a:r>
            <a:br/>
            <a:r>
              <a:t>&lt;class 'pandas.core.series.Series'&gt;</a:t>
            </a:r>
            <a:br/>
            <a:r>
              <a:t>--- DataFrame ---</a:t>
            </a:r>
            <a:br/>
            <a:r>
              <a:t>&lt;class 'pandas.core.frame.DataFrame'&gt;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loc[] vs </a:t>
            </a:r>
            <a:r>
              <a:rPr dirty="0" err="1"/>
              <a:t>iloc</a:t>
            </a:r>
            <a:r>
              <a:rPr dirty="0"/>
              <a:t>[]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df.loc[row_label, col_label]  # Label-based</a:t>
            </a:r>
            <a:br/>
            <a:r>
              <a:t>df.iloc[row_idx, col_idx]     # Position-based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Select rows and columns by label or integer position.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loc: Access by index labels and column names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iloc: Access by integer positions (0 to N-1)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pd.DataFrame({'Score': [88, 92]}, index=['Alice', 'Bob'])</a:t>
            </a:r>
            <a:br/>
            <a:r>
              <a:t>print('loc:', df.loc['Alice', 'Score'])</a:t>
            </a:r>
            <a:br/>
            <a:r>
              <a:t>print('iloc:', df.iloc[0, 0])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loc: 88</a:t>
            </a:r>
            <a:br/>
            <a:r>
              <a:t>iloc: 88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Boolean Masking (&amp;, |, ~)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df[(df['col1'] &gt; val1) &amp; (df['col2'] == val2)]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Filter DataFrame rows using logical conditional operations (always enclose conditions in parentheses!).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&amp;: Logical AND (both conditions True)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|: Logical OR (either condition True)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~: Logical NOT (negates condition)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97864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pd.DataFrame</a:t>
            </a:r>
            <a:r>
              <a:rPr dirty="0"/>
              <a:t>({'Age': [22, 35, 45], 'Dept': ['HR', 'IT', 'IT']})</a:t>
            </a:r>
            <a:br>
              <a:rPr dirty="0"/>
            </a:br>
            <a:r>
              <a:rPr dirty="0"/>
              <a:t>mask = (</a:t>
            </a:r>
            <a:r>
              <a:rPr dirty="0" err="1"/>
              <a:t>df</a:t>
            </a:r>
            <a:r>
              <a:rPr dirty="0"/>
              <a:t>['Age'] &gt; 30) &amp; (</a:t>
            </a:r>
            <a:r>
              <a:rPr dirty="0" err="1"/>
              <a:t>df</a:t>
            </a:r>
            <a:r>
              <a:rPr dirty="0"/>
              <a:t>['Dept'] == 'IT')</a:t>
            </a:r>
            <a:br>
              <a:rPr dirty="0"/>
            </a:br>
            <a:r>
              <a:rPr dirty="0"/>
              <a:t>print(</a:t>
            </a:r>
            <a:r>
              <a:rPr dirty="0" err="1"/>
              <a:t>df</a:t>
            </a:r>
            <a:r>
              <a:rPr dirty="0"/>
              <a:t>[mask])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Age Dept</a:t>
            </a:r>
            <a:br/>
            <a:r>
              <a:t>1   35   IT</a:t>
            </a:r>
            <a:br/>
            <a:r>
              <a:t>2   45   IT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isin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s.isin(values)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Filter rows matching any element inside a list of values.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values: List, set, or Series of target values to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pd.DataFrame</a:t>
            </a:r>
            <a:r>
              <a:rPr dirty="0"/>
              <a:t>({'City': ['NY', 'London', 'Paris', 'Tokyo']})</a:t>
            </a:r>
            <a:br>
              <a:rPr dirty="0"/>
            </a:br>
            <a:r>
              <a:rPr dirty="0"/>
              <a:t>mask = </a:t>
            </a:r>
            <a:r>
              <a:rPr dirty="0" err="1"/>
              <a:t>df</a:t>
            </a:r>
            <a:r>
              <a:rPr dirty="0"/>
              <a:t>['City'].</a:t>
            </a:r>
            <a:r>
              <a:rPr dirty="0" err="1"/>
              <a:t>isin</a:t>
            </a:r>
            <a:r>
              <a:rPr dirty="0"/>
              <a:t>(['NY', 'Paris'])</a:t>
            </a:r>
            <a:br>
              <a:rPr dirty="0"/>
            </a:br>
            <a:r>
              <a:rPr dirty="0"/>
              <a:t>print(</a:t>
            </a:r>
            <a:r>
              <a:rPr dirty="0" err="1"/>
              <a:t>df</a:t>
            </a:r>
            <a:r>
              <a:rPr dirty="0"/>
              <a:t>[mask])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  City</a:t>
            </a:r>
            <a:br/>
            <a:r>
              <a:t>0      NY</a:t>
            </a:r>
            <a:br/>
            <a:r>
              <a:t>2   Paris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6CC75DDF-173F-0E07-73E8-F58B772E5C49}"/>
              </a:ext>
            </a:extLst>
          </p:cNvPr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Analysis in Pandas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lang="en-IN" sz="2800" b="1" dirty="0">
                <a:solidFill>
                  <a:srgbClr val="FFFFFF"/>
                </a:solidFill>
              </a:rPr>
              <a:t>Grouping, aggregation, summary statistics, merging datasets and creating new columns.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99137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9562-36DD-09E4-518A-D2EEA41B0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2648"/>
            <a:ext cx="10076688" cy="804990"/>
          </a:xfrm>
        </p:spPr>
        <p:txBody>
          <a:bodyPr>
            <a:noAutofit/>
          </a:bodyPr>
          <a:lstStyle/>
          <a:p>
            <a:r>
              <a:rPr lang="en-US" sz="2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is Data Analysis &amp; Why Do We Need It?</a:t>
            </a:r>
            <a:br>
              <a:rPr lang="en-US" sz="2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endParaRPr lang="en-IN" sz="27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55A56-C103-2B39-02CD-CE1B4E85E1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IN" sz="2000" dirty="0">
              <a:latin typeface="Aptos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385EE-8B79-3431-E146-427E4AE40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8984" y="1600200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E1DA34-0AC5-6A7F-3695-C53E397DEAF8}"/>
              </a:ext>
            </a:extLst>
          </p:cNvPr>
          <p:cNvSpPr/>
          <p:nvPr/>
        </p:nvSpPr>
        <p:spPr>
          <a:xfrm>
            <a:off x="1527048" y="1600200"/>
            <a:ext cx="2968752" cy="335584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 What is it?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Collecting, cleaning, exploring and interpreting data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Finds patterns and supports decisions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Example: sales records show which product sells best, and when</a:t>
            </a:r>
            <a:endParaRPr lang="en-US" sz="1400" dirty="0">
              <a:latin typeface="Aptos" panose="020B0004020202020204" pitchFamily="34" charset="0"/>
            </a:endParaRPr>
          </a:p>
          <a:p>
            <a:pPr algn="ctr"/>
            <a:endParaRPr lang="en-IN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43C6C0-74C1-7EDB-7ED6-D48A3EBC45DA}"/>
              </a:ext>
            </a:extLst>
          </p:cNvPr>
          <p:cNvSpPr/>
          <p:nvPr/>
        </p:nvSpPr>
        <p:spPr>
          <a:xfrm>
            <a:off x="6464808" y="1600200"/>
            <a:ext cx="2968752" cy="335584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Why is it required?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Better decisions: facts replace guesswork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Efficiency: spot waste and bottlenecks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Know your customers and catch risks early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B4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keeps growing; it only helps if analyzed</a:t>
            </a:r>
            <a:endParaRPr lang="en-US" sz="1400" dirty="0">
              <a:latin typeface="Aptos" panose="020B0004020202020204" pitchFamily="34" charset="0"/>
            </a:endParaRPr>
          </a:p>
          <a:p>
            <a:pPr algn="ctr"/>
            <a:endParaRPr lang="en-I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213FA6-F7BB-724F-623D-9D0E77DB08F0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969781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Grouping &amp; Statistics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Splitting, Aggregating &amp; Summarizing Data with </a:t>
            </a:r>
            <a:r>
              <a:rPr dirty="0" err="1"/>
              <a:t>df.groupby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E2732"/>
                </a:solidFill>
                <a:latin typeface="Aptos"/>
              </a:rPr>
              <a:t>Grouping: turn many rows into useful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groupby() answers questions such as: 'What is the average salary in each department?'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64769"/>
                </a:solidFill>
                <a:latin typeface="Aptos"/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Choose a grouping column such as Department.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Pandas separates rows into groups.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rPr dirty="0"/>
              <a:t>• Each group can then be analyzed independently.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7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Use mean, sum, count, min, max, std, etc.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For example, calculate average Salary for each Department.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Different columns can use different aggregation functions.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Pandas returns the group results as a summary.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agg() lets you create several named metrics together.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This is the Split → Apply → Combine pattern.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The Split-Apply-Combine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1. Split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Break DataFrame into distinct subgroups based on categorical column values.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8704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2. Apply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Calculate summary metrics (mean, sum, count, max) independently on each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9392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3. Combine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Merge group results into a clean summary DataFrame.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groupby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df.groupby(by=None, as_index=True)[col].mean()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Group data by category and calculate aggregate statistics.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by: Column name or list of column names to group by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as_index: Whether group keys become DataFrame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pd.DataFrame</a:t>
            </a:r>
            <a:r>
              <a:rPr dirty="0"/>
              <a:t>({'Dept': ['Sales', 'Sales', 'IT'], 'Salary': [50, 60, 80]})</a:t>
            </a:r>
            <a:br>
              <a:rPr dirty="0"/>
            </a:br>
            <a:r>
              <a:rPr dirty="0"/>
              <a:t>grouped = </a:t>
            </a:r>
            <a:r>
              <a:rPr dirty="0" err="1"/>
              <a:t>df.groupby</a:t>
            </a:r>
            <a:r>
              <a:rPr dirty="0"/>
              <a:t>('Dept')['Salary'].mean()</a:t>
            </a:r>
            <a:br>
              <a:rPr dirty="0"/>
            </a:br>
            <a:r>
              <a:rPr dirty="0"/>
              <a:t>print(grouped)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Dept</a:t>
            </a:r>
            <a:br/>
            <a:r>
              <a:t>IT       80.0</a:t>
            </a:r>
            <a:br/>
            <a:r>
              <a:t>Sales    55.0</a:t>
            </a:r>
            <a:br/>
            <a:r>
              <a:t>Name: Salary, dtype: float64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groupby</a:t>
            </a:r>
            <a:r>
              <a:rPr dirty="0"/>
              <a:t>().</a:t>
            </a:r>
            <a:r>
              <a:rPr dirty="0" err="1"/>
              <a:t>agg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rPr dirty="0"/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 err="1"/>
              <a:t>df.groupby</a:t>
            </a:r>
            <a:r>
              <a:rPr dirty="0"/>
              <a:t>('category').</a:t>
            </a:r>
            <a:r>
              <a:rPr dirty="0" err="1"/>
              <a:t>agg</a:t>
            </a:r>
            <a:r>
              <a:rPr dirty="0"/>
              <a:t>(</a:t>
            </a:r>
            <a:r>
              <a:rPr dirty="0" err="1"/>
              <a:t>new_col</a:t>
            </a:r>
            <a:r>
              <a:rPr dirty="0"/>
              <a:t>=('</a:t>
            </a:r>
            <a:r>
              <a:rPr dirty="0" err="1"/>
              <a:t>target_col</a:t>
            </a:r>
            <a:r>
              <a:rPr dirty="0"/>
              <a:t>', '</a:t>
            </a:r>
            <a:r>
              <a:rPr dirty="0" err="1"/>
              <a:t>func</a:t>
            </a:r>
            <a:r>
              <a:rPr dirty="0"/>
              <a:t>'))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Compute multiple custom summary metrics simultaneously across groups.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agg spec: Dictionary or named tuple mapping output columns to aggregate functions ('sum', 'mean', 'count', 'std')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rPr dirty="0"/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pd.DataFrame</a:t>
            </a:r>
            <a:r>
              <a:rPr dirty="0"/>
              <a:t>({'Dept': ['Sales', 'Sales', 'IT'], 'Score': [80, 90, 95]})</a:t>
            </a:r>
            <a:br>
              <a:rPr dirty="0"/>
            </a:br>
            <a:r>
              <a:rPr dirty="0"/>
              <a:t>summary = </a:t>
            </a:r>
            <a:r>
              <a:rPr dirty="0" err="1"/>
              <a:t>df.groupby</a:t>
            </a:r>
            <a:r>
              <a:rPr dirty="0"/>
              <a:t>('Dept').</a:t>
            </a:r>
            <a:r>
              <a:rPr dirty="0" err="1"/>
              <a:t>agg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Total_Staff</a:t>
            </a:r>
            <a:r>
              <a:rPr dirty="0"/>
              <a:t>=('Score', 'count'),</a:t>
            </a:r>
            <a:br>
              <a:rPr dirty="0"/>
            </a:br>
            <a:r>
              <a:rPr dirty="0"/>
              <a:t>    </a:t>
            </a:r>
            <a:r>
              <a:rPr dirty="0" err="1"/>
              <a:t>Avg_Score</a:t>
            </a:r>
            <a:r>
              <a:rPr dirty="0"/>
              <a:t>=('Score', 'mean')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r>
              <a:rPr dirty="0"/>
              <a:t>print(summary)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    Total_Staff  Avg_Score</a:t>
            </a:r>
            <a:br/>
            <a:r>
              <a:t>Dept                         </a:t>
            </a:r>
            <a:br/>
            <a:r>
              <a:t>IT               1       95.0</a:t>
            </a:r>
            <a:br/>
            <a:r>
              <a:t>Sales            2       85.0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Merge and Combine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Joining Disparate Tables via Relational Keys &amp; Concatenation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732"/>
                </a:solidFill>
                <a:latin typeface="Aptos"/>
              </a:rPr>
              <a:t>Merge vs. concatenate: two different ways to combine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The key beginner question is: are you matching records by a key, or simply stacking datasets?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Merge =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Use a common key such as ID.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Like joining two database tables.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Example: attach customer names to order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7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Concat =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Place compatible DataFrames one after another.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axis=0 → add rows.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axis=1 → align/add columns.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ignore_index=True creates a fresh row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Join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Inner → only matching keys.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Left → keep every row from the left table.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Right → keep every row from the right table.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Outer → keep all keys from both tables.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Relational Join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Inner Join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Keeps only rows with matching key values in BOTH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Left Join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Keeps ALL rows from left table, filling missing right matches with NaN.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79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Right Join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Keeps ALL rows from right table, filling missing left matches with NaN.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1109441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Outer Join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Keeps ALL rows from both tables, combining matching keys.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merge()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pd.merge(left, right, how='inner', on=None, left_on=None, right_on=None)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Combine two DataFrames side-by-side using database-style relational joins.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left / right: DataFrames to join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how: 'inner', 'left', 'right', or 'outer'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on: Key column name present in both DataFrames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emp = pd.DataFrame({'ID': [1, 2], 'Name': ['Alice', 'Bob']})</a:t>
            </a:r>
            <a:br/>
            <a:r>
              <a:t>sal = pd.DataFrame({'ID': [1, 2], 'Salary': [70k, 80k]})</a:t>
            </a:r>
            <a:br/>
            <a:r>
              <a:t>merged = pd.merge(emp, sal, on='ID', how='left')</a:t>
            </a:r>
            <a:br/>
            <a:r>
              <a:t>print(merged)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ID   Name  Salary</a:t>
            </a:r>
            <a:br/>
            <a:r>
              <a:t>0   1  Alice   70k</a:t>
            </a:r>
            <a:br/>
            <a:r>
              <a:t>1   2    Bob   80k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DF8C-55A3-8755-F18A-4F4EEC54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467E31-9FF8-50EA-9E69-F4F14112A62D}"/>
              </a:ext>
            </a:extLst>
          </p:cNvPr>
          <p:cNvSpPr/>
          <p:nvPr/>
        </p:nvSpPr>
        <p:spPr>
          <a:xfrm>
            <a:off x="305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2980B9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2200" b="1" dirty="0">
                <a:solidFill>
                  <a:srgbClr val="FFFFFF"/>
                </a:solidFill>
              </a:rPr>
              <a:t>merge() -Examples</a:t>
            </a:r>
          </a:p>
        </p:txBody>
      </p:sp>
      <p:sp>
        <p:nvSpPr>
          <p:cNvPr id="4" name="Code Card">
            <a:extLst>
              <a:ext uri="{FF2B5EF4-FFF2-40B4-BE49-F238E27FC236}">
                <a16:creationId xmlns:a16="http://schemas.microsoft.com/office/drawing/2014/main" id="{2EEC2D0C-9209-64D8-477E-2FCAF5B536EF}"/>
              </a:ext>
            </a:extLst>
          </p:cNvPr>
          <p:cNvSpPr/>
          <p:nvPr/>
        </p:nvSpPr>
        <p:spPr>
          <a:xfrm>
            <a:off x="487985" y="1188720"/>
            <a:ext cx="5608015" cy="346134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3716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64C8FF"/>
                </a:solidFill>
              </a:rPr>
              <a:t>EXAMPLE CODE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import pandas as pd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emp_df = pd.DataFrame({'ID': [1, 2, 3],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  'Name': ['Ann', 'Bob', 'Cy']})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sal_df = pd.DataFrame({'ID': [1, 2],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        'Salary': [70, 80]})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7EC8A0"/>
                </a:solidFill>
                <a:latin typeface="Courier New"/>
                <a:cs typeface="Courier New"/>
              </a:rPr>
              <a:t># Left join on a shared key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print(pd.merge(emp_df, sal_df,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DCDCDC"/>
                </a:solidFill>
                <a:latin typeface="Courier New"/>
                <a:cs typeface="Courier New"/>
              </a:rPr>
              <a:t>               on='ID', how='left'))</a:t>
            </a:r>
          </a:p>
          <a:p>
            <a:pPr>
              <a:spcBef>
                <a:spcPts val="0"/>
              </a:spcBef>
              <a:buNone/>
            </a:pPr>
            <a:endParaRPr lang="en-US" sz="1100" dirty="0"/>
          </a:p>
        </p:txBody>
      </p:sp>
      <p:sp>
        <p:nvSpPr>
          <p:cNvPr id="11" name="Output Card">
            <a:extLst>
              <a:ext uri="{FF2B5EF4-FFF2-40B4-BE49-F238E27FC236}">
                <a16:creationId xmlns:a16="http://schemas.microsoft.com/office/drawing/2014/main" id="{EAF5FE72-276B-708E-5EC4-387744F5E592}"/>
              </a:ext>
            </a:extLst>
          </p:cNvPr>
          <p:cNvSpPr/>
          <p:nvPr/>
        </p:nvSpPr>
        <p:spPr>
          <a:xfrm>
            <a:off x="6576119" y="1199640"/>
            <a:ext cx="5492343" cy="176056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Left join on a shared key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   ID Name  Salary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0   1  Ann    70.0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1   2  Bob    80.0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282828"/>
                </a:solidFill>
                <a:latin typeface="Courier New"/>
                <a:cs typeface="Courier New"/>
              </a:rPr>
              <a:t>2   3   Cy     NaN</a:t>
            </a:r>
          </a:p>
        </p:txBody>
      </p:sp>
      <p:sp>
        <p:nvSpPr>
          <p:cNvPr id="5" name="Output Card">
            <a:extLst>
              <a:ext uri="{FF2B5EF4-FFF2-40B4-BE49-F238E27FC236}">
                <a16:creationId xmlns:a16="http://schemas.microsoft.com/office/drawing/2014/main" id="{F1F8300A-967A-48F9-5E7F-2E4A267FBEC5}"/>
              </a:ext>
            </a:extLst>
          </p:cNvPr>
          <p:cNvSpPr/>
          <p:nvPr/>
        </p:nvSpPr>
        <p:spPr>
          <a:xfrm>
            <a:off x="6576119" y="3056897"/>
            <a:ext cx="5492343" cy="176056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18872" rIns="182880" bIns="13716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C3E50"/>
                </a:solidFill>
              </a:rPr>
              <a:t>EXPECTED OUTPUT: Right join on a shared key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 Name  Salary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1  Ann      70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2  Bob      80</a:t>
            </a:r>
            <a:endParaRPr lang="en-US" sz="1100" b="0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8518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</a:t>
            </a:r>
            <a:r>
              <a:rPr dirty="0" err="1"/>
              <a:t>concat</a:t>
            </a:r>
            <a:r>
              <a:rPr dirty="0"/>
              <a:t>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pd.concat(objs, axis=0, ignore_index=False)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Stack DataFrames vertically or align horizontally along an axis.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objs: Sequence of Series or DataFrame objects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axis: 0 for vertical stacking (rows), 1 for horizontal (columns)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ignore_index: True resets row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df1 = pd.DataFrame({'A': [1, 2]})</a:t>
            </a:r>
            <a:br/>
            <a:r>
              <a:t>df2 = pd.DataFrame({'A': [3, 4]})</a:t>
            </a:r>
            <a:br/>
            <a:r>
              <a:t>stacked = pd.concat([df1, df2], ignore_index=True)</a:t>
            </a:r>
            <a:br/>
            <a:r>
              <a:t>print(stacked)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A</a:t>
            </a:r>
            <a:br/>
            <a:r>
              <a:t>0  1</a:t>
            </a:r>
            <a:br/>
            <a:r>
              <a:t>1  2</a:t>
            </a:r>
            <a:br/>
            <a:r>
              <a:t>2  3</a:t>
            </a:r>
            <a:br/>
            <a:r>
              <a:t>3  4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Calculated (New) Columns</a:t>
            </a:r>
          </a:p>
          <a:p>
            <a:pPr>
              <a:spcBef>
                <a:spcPts val="1500"/>
              </a:spcBef>
              <a:defRPr sz="1800">
                <a:solidFill>
                  <a:srgbClr val="DCEBF5"/>
                </a:solidFill>
              </a:defRPr>
            </a:pPr>
            <a:r>
              <a:rPr dirty="0"/>
              <a:t>Vectorized Arithmetic &amp; Feature Engineering with </a:t>
            </a:r>
            <a:r>
              <a:rPr dirty="0" err="1"/>
              <a:t>pd.cut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732"/>
                </a:solidFill>
                <a:latin typeface="Aptos"/>
              </a:rPr>
              <a:t>Calculated columns: let Pandas do the arithmetic for every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Aptos"/>
              </a:rPr>
              <a:t>Instead of writing a loop row by row, Pandas can apply an expression to an entire column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Vectorization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df['Total'] = df['Price'] * df['Qty'] applies to every row.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This is concise and efficient.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It is one of the main reasons Pandas feels like a spreadsheet with Python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7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Feature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A new column can combine existing information.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Examples: subtotal, tax, ratio, age group, score category.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The new column becomes part of the DataFrame.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74519"/>
            <a:ext cx="2788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39112"/>
            <a:ext cx="2386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4769"/>
                </a:solidFill>
                <a:latin typeface="Aptos"/>
              </a:rPr>
              <a:t>pd.cut()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468879"/>
            <a:ext cx="2386584" cy="3447287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Turns continuous numbers into categories.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Example: scores → Fail / Pass / Excellence.</a:t>
            </a:r>
          </a:p>
          <a:p>
            <a:pPr>
              <a:spcAft>
                <a:spcPts val="700"/>
              </a:spcAft>
              <a:defRPr sz="1400">
                <a:solidFill>
                  <a:srgbClr val="373F4B"/>
                </a:solidFill>
                <a:latin typeface="Aptos"/>
              </a:defRPr>
            </a:pPr>
            <a:r>
              <a:t>• Bins define boundaries; labels give those bins meaningful names.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Vectorized Column Math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Element-Wise Operations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Pandas performs arithmetic on entire columns at once at C-speed without Python loops.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8704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Broadcasting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Operations between a column and a scalar (e.g., df['Price'] * 1.05) automatically apply to every 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93920"/>
            <a:ext cx="11094415" cy="1569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37160" rtlCol="0" anchor="ctr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Alignment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</a:defRPr>
            </a:pPr>
            <a:r>
              <a:t>Operations between two columns automatically align on row index labels.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Vectorized Arithmetic Syntax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df['new_col'] = df['col1'] + df['col2']</a:t>
            </a:r>
            <a:br/>
            <a:r>
              <a:t>df['tax'] = df['price'] * 0.1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• Usage: Create new calculated columns from existing columns.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  - expression: Any standard mathematical combination of columns and scalars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df = pd.DataFrame({'Price': [100, 200], 'Qty': [2, 3]})</a:t>
            </a:r>
            <a:br/>
            <a:r>
              <a:t>df['Subtotal'] = df['Price'] * df['Qty']</a:t>
            </a:r>
            <a:br/>
            <a:r>
              <a:t>df['Total_With_Tax'] = df['Subtotal'] * 1.1</a:t>
            </a:r>
            <a:br/>
            <a:r>
              <a:t>print(df)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   Price  Qty  Subtotal  Total_With_Tax</a:t>
            </a:r>
            <a:br/>
            <a:r>
              <a:t>0    100    2       200           220.0</a:t>
            </a:r>
            <a:br/>
            <a:r>
              <a:t>1    200    3       600           660.0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Function: cut()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2801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SYNTAX SIGNATURE</a:t>
            </a:r>
          </a:p>
          <a:p>
            <a:pPr>
              <a:spcBef>
                <a:spcPts val="400"/>
              </a:spcBef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pd.cut(x, bins, labels=None, right=True)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3035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dirty="0"/>
              <a:t>KEY PARAMETERS &amp; USAGE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rPr dirty="0"/>
              <a:t>• Usage: Bin continuous numerical values into discrete categorical groups.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/>
              <a:t>• Parameters: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/>
              <a:t>  -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x: 1D input array or Series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- bins: Integer count of equal bins or sequence of scalar bin edges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- labels: Custom category names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- </a:t>
            </a:r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cs typeface="Courier New"/>
              </a:rPr>
              <a:t>right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 True (interval includes the right edge) or False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608015" cy="29260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EXAMPLE PYTHON CODE</a:t>
            </a:r>
          </a:p>
          <a:p>
            <a:pPr>
              <a:spcBef>
                <a:spcPts val="600"/>
              </a:spcBef>
              <a:defRPr sz="1100">
                <a:solidFill>
                  <a:srgbClr val="DCDCDC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scores = pd.Series([55, 78, 92, 40])</a:t>
            </a:r>
            <a:br/>
            <a:r>
              <a:t>bins = [0, 60, 80, 100]</a:t>
            </a:r>
            <a:br/>
            <a:r>
              <a:t>labels = ['Fail', 'Pass', 'Excellence']</a:t>
            </a:r>
            <a:br/>
            <a:r>
              <a:t>grades = pd.cut(scores, bins=bins, labels=labels)</a:t>
            </a:r>
            <a:br/>
            <a:r>
              <a:t>print(grades)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251960"/>
            <a:ext cx="5608015" cy="228600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EXPECTED OUTPUT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  <a:latin typeface="Courier New"/>
              </a:defRPr>
            </a:pPr>
            <a:r>
              <a:t>0          Fail</a:t>
            </a:r>
            <a:br/>
            <a:r>
              <a:t>1          Pass</a:t>
            </a:r>
            <a:br/>
            <a:r>
              <a:t>2    Excellence</a:t>
            </a:r>
            <a:br/>
            <a:r>
              <a:t>3          Fail</a:t>
            </a:r>
            <a:br/>
            <a:r>
              <a:t>dtype: category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A57AAC-1D99-7A12-4162-D765FCA7C993}"/>
              </a:ext>
            </a:extLst>
          </p:cNvPr>
          <p:cNvSpPr txBox="1"/>
          <p:nvPr/>
        </p:nvSpPr>
        <p:spPr>
          <a:xfrm>
            <a:off x="658761" y="432619"/>
            <a:ext cx="4306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Summary of functions</a:t>
            </a:r>
            <a:endParaRPr lang="en-IN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B66CA-94F0-6D7B-0FD7-2D964D1CEB1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8E46EE-1AD3-21D2-83E9-868D96F59961}"/>
              </a:ext>
            </a:extLst>
          </p:cNvPr>
          <p:cNvSpPr/>
          <p:nvPr/>
        </p:nvSpPr>
        <p:spPr>
          <a:xfrm>
            <a:off x="1297857" y="1877960"/>
            <a:ext cx="9458633" cy="209427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Series() → </a:t>
            </a:r>
            <a:r>
              <a:rPr lang="en-IN" dirty="0" err="1">
                <a:solidFill>
                  <a:schemeClr val="tx1"/>
                </a:solidFill>
              </a:rPr>
              <a:t>DataFrame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read_csv</a:t>
            </a:r>
            <a:r>
              <a:rPr lang="en-IN" dirty="0">
                <a:solidFill>
                  <a:schemeClr val="tx1"/>
                </a:solidFill>
              </a:rPr>
              <a:t>() → head() → tail() → shape → columns → info() → describe() → </a:t>
            </a:r>
            <a:r>
              <a:rPr lang="en-IN" dirty="0" err="1">
                <a:solidFill>
                  <a:schemeClr val="tx1"/>
                </a:solidFill>
              </a:rPr>
              <a:t>isna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dropna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fillna</a:t>
            </a:r>
            <a:r>
              <a:rPr lang="en-IN" dirty="0">
                <a:solidFill>
                  <a:schemeClr val="tx1"/>
                </a:solidFill>
              </a:rPr>
              <a:t>() → duplicated() → </a:t>
            </a:r>
            <a:r>
              <a:rPr lang="en-IN" dirty="0" err="1">
                <a:solidFill>
                  <a:schemeClr val="tx1"/>
                </a:solidFill>
              </a:rPr>
              <a:t>drop_duplicates</a:t>
            </a:r>
            <a:r>
              <a:rPr lang="en-IN" dirty="0">
                <a:solidFill>
                  <a:schemeClr val="tx1"/>
                </a:solidFill>
              </a:rPr>
              <a:t>() → .</a:t>
            </a:r>
            <a:r>
              <a:rPr lang="en-IN" dirty="0" err="1">
                <a:solidFill>
                  <a:schemeClr val="tx1"/>
                </a:solidFill>
              </a:rPr>
              <a:t>str.strip</a:t>
            </a:r>
            <a:r>
              <a:rPr lang="en-IN" dirty="0">
                <a:solidFill>
                  <a:schemeClr val="tx1"/>
                </a:solidFill>
              </a:rPr>
              <a:t>() → .</a:t>
            </a:r>
            <a:r>
              <a:rPr lang="en-IN" dirty="0" err="1">
                <a:solidFill>
                  <a:schemeClr val="tx1"/>
                </a:solidFill>
              </a:rPr>
              <a:t>str.replace</a:t>
            </a:r>
            <a:r>
              <a:rPr lang="en-IN" dirty="0">
                <a:solidFill>
                  <a:schemeClr val="tx1"/>
                </a:solidFill>
              </a:rPr>
              <a:t>() → .</a:t>
            </a:r>
            <a:r>
              <a:rPr lang="en-IN" dirty="0" err="1">
                <a:solidFill>
                  <a:schemeClr val="tx1"/>
                </a:solidFill>
              </a:rPr>
              <a:t>str.split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astype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to_numeric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to_datetime</a:t>
            </a:r>
            <a:r>
              <a:rPr lang="en-IN" dirty="0">
                <a:solidFill>
                  <a:schemeClr val="tx1"/>
                </a:solidFill>
              </a:rPr>
              <a:t>() → loc[] → </a:t>
            </a:r>
            <a:r>
              <a:rPr lang="en-IN" dirty="0" err="1">
                <a:solidFill>
                  <a:schemeClr val="tx1"/>
                </a:solidFill>
              </a:rPr>
              <a:t>iloc</a:t>
            </a:r>
            <a:r>
              <a:rPr lang="en-IN" dirty="0">
                <a:solidFill>
                  <a:schemeClr val="tx1"/>
                </a:solidFill>
              </a:rPr>
              <a:t>[] → </a:t>
            </a:r>
            <a:r>
              <a:rPr lang="en-IN" dirty="0" err="1">
                <a:solidFill>
                  <a:schemeClr val="tx1"/>
                </a:solidFill>
              </a:rPr>
              <a:t>isin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groupby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agg</a:t>
            </a:r>
            <a:r>
              <a:rPr lang="en-IN" dirty="0">
                <a:solidFill>
                  <a:schemeClr val="tx1"/>
                </a:solidFill>
              </a:rPr>
              <a:t>() → merge() → </a:t>
            </a:r>
            <a:r>
              <a:rPr lang="en-IN" dirty="0" err="1">
                <a:solidFill>
                  <a:schemeClr val="tx1"/>
                </a:solidFill>
              </a:rPr>
              <a:t>concat</a:t>
            </a:r>
            <a:r>
              <a:rPr lang="en-IN" dirty="0">
                <a:solidFill>
                  <a:schemeClr val="tx1"/>
                </a:solidFill>
              </a:rPr>
              <a:t>() → </a:t>
            </a:r>
            <a:r>
              <a:rPr lang="en-IN" dirty="0" err="1">
                <a:solidFill>
                  <a:schemeClr val="tx1"/>
                </a:solidFill>
              </a:rPr>
              <a:t>pd.cut</a:t>
            </a:r>
            <a:r>
              <a:rPr lang="en-IN" dirty="0">
                <a:solidFill>
                  <a:schemeClr val="tx1"/>
                </a:solidFill>
              </a:rPr>
              <a:t>()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67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452</TotalTime>
  <Words>9193</Words>
  <Application>Microsoft Office PowerPoint</Application>
  <PresentationFormat>Widescreen</PresentationFormat>
  <Paragraphs>1110</Paragraphs>
  <Slides>77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Aptos</vt:lpstr>
      <vt:lpstr>Arial</vt:lpstr>
      <vt:lpstr>Calibri</vt:lpstr>
      <vt:lpstr>Calibri Body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Data Analysis &amp; Why Do We Need It?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bijijoybj123@gmail.com</cp:lastModifiedBy>
  <cp:revision>19</cp:revision>
  <dcterms:created xsi:type="dcterms:W3CDTF">2013-01-27T09:14:16Z</dcterms:created>
  <dcterms:modified xsi:type="dcterms:W3CDTF">2026-10-06T19:49:42Z</dcterms:modified>
  <cp:category/>
</cp:coreProperties>
</file>